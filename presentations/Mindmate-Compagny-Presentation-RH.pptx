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05f05e8-34f5-1dff-e285-91eb7aef6e83}">
          <p14:sldIdLst>
            <p14:sldId id="256"/>
            <p14:sldId id="257"/>
          </p14:sldIdLst>
        </p14:section>
        <p14:section name="Le problème" id="{6f755047-f06c-2999-78e4-5aedaddf1e02}">
          <p14:sldIdLst>
            <p14:sldId id="258"/>
            <p14:sldId id="259"/>
            <p14:sldId id="260"/>
          </p14:sldIdLst>
        </p14:section>
        <p14:section name="La solution" id="{ab368c50-6791-bd48-e431-92650f8d0ca9}">
          <p14:sldIdLst>
            <p14:sldId id="261"/>
            <p14:sldId id="262"/>
            <p14:sldId id="263"/>
            <p14:sldId id="264"/>
            <p14:sldId id="265"/>
          </p14:sldIdLst>
        </p14:section>
        <p14:section name="Démonstration" id="{2fe90854-0051-4ef2-7306-36a3772fcec2}">
          <p14:sldIdLst>
            <p14:sldId id="266"/>
          </p14:sldIdLst>
        </p14:section>
        <p14:section name="Confiance" id="{ba909b3b-0f12-6926-77f8-1d9f01f58cb0}">
          <p14:sldIdLst>
            <p14:sldId id="267"/>
            <p14:sldId id="268"/>
            <p14:sldId id="269"/>
          </p14:sldIdLst>
        </p14:section>
        <p14:section name="Prochaine étape" id="{159091bb-2ff1-ca7b-55a4-3a601600a983}">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8"/>
                </a:solidFill>
                <a:latin typeface="+mn-lt"/>
              </a:defRPr>
            </a:pPr>
            <a:r>
              <a:rPr sz="1400" b="0" i="0" u="none" strike="noStrike">
                <a:solidFill>
                  <a:srgbClr val="1C2438"/>
                </a:solidFill>
                <a:latin typeface="+mn-lt"/>
              </a:rPr>
              <a:t>Raisons citées lors des départs (exemple illustratif)</a:t>
            </a:r>
          </a:p>
        </c:rich>
      </c:tx>
      <c:layout/>
      <c:overlay val="0"/>
    </c:title>
    <c:autoTitleDeleted val="0"/>
    <c:plotArea>
      <c:layout/>
      <c:barChart>
        <c:barDir val="bar"/>
        <c:grouping val="clustered"/>
        <c:varyColors val="0"/>
        <c:ser>
          <c:idx val="0"/>
          <c:order val="0"/>
          <c:tx>
            <c:strRef>
              <c:f>Sheet1!$B$1</c:f>
              <c:strCache>
                <c:ptCount val="1"/>
                <c:pt idx="0">
                  <c:v>Raisons de départ</c:v>
                </c:pt>
              </c:strCache>
            </c:strRef>
          </c:tx>
          <c:spPr>
            <a:solidFill>
              <a:srgbClr val="2F6F5E"/>
            </a:solidFill>
            <a:effectLst/>
          </c:spPr>
          <c:invertIfNegative val="0"/>
          <c:dLbls>
            <c:numFmt formatCode="0&quot;%&quot;" sourceLinked="0"/>
            <c:txPr>
              <a:bodyPr/>
              <a:lstStyle/>
              <a:p>
                <a:pPr>
                  <a:defRPr b="0" i="0" strike="noStrike" sz="1200" u="none">
                    <a:solidFill>
                      <a:srgbClr val="1C2438"/>
                    </a:solidFill>
                    <a:latin typeface="+mn-lt"/>
                  </a:defRPr>
                </a:pPr>
              </a:p>
            </c:txPr>
            <c:showLegendKey val="0"/>
            <c:showVal val="1"/>
            <c:showCatName val="0"/>
            <c:showSerName val="0"/>
            <c:showPercent val="0"/>
            <c:showBubbleSize val="0"/>
            <c:showLeaderLines val="0"/>
          </c:dLbls>
          <c:cat>
            <c:multiLvlStrRef>
              <c:f>Sheet1!$A$2:$A$6</c:f>
              <c:multiLvlStrCache>
                <c:ptCount val="5"/>
                <c:lvl>
                  <c:pt idx="0">
                    <c:v>Manque d'évolution</c:v>
                  </c:pt>
                  <c:pt idx="1">
                    <c:v>Horaires / équilibre</c:v>
                  </c:pt>
                  <c:pt idx="2">
                    <c:v>Rémunération</c:v>
                  </c:pt>
                  <c:pt idx="3">
                    <c:v>Management</c:v>
                  </c:pt>
                  <c:pt idx="4">
                    <c:v>Autre</c:v>
                  </c:pt>
                </c:lvl>
              </c:multiLvlStrCache>
            </c:multiLvlStrRef>
          </c:cat>
          <c:val>
            <c:numRef>
              <c:f>Sheet1!$B$2:$B$6</c:f>
              <c:numCache>
                <c:formatCode>General</c:formatCode>
                <c:ptCount val="5"/>
                <c:pt idx="0">
                  <c:v>38</c:v>
                </c:pt>
                <c:pt idx="1">
                  <c:v>24</c:v>
                </c:pt>
                <c:pt idx="2">
                  <c:v>18</c:v>
                </c:pt>
                <c:pt idx="3">
                  <c:v>12</c:v>
                </c:pt>
                <c:pt idx="4">
                  <c:v>8</c:v>
                </c:pt>
              </c:numCache>
            </c:numRef>
          </c:val>
        </c:ser>
        <c:dLbls>
          <c:numFmt formatCode="0&quot;%&quot;" sourceLinked="0"/>
          <c:txPr>
            <a:bodyPr/>
            <a:lstStyle/>
            <a:p>
              <a:pPr>
                <a:defRPr b="0" i="0" strike="noStrike" sz="1200" u="none">
                  <a:solidFill>
                    <a:srgbClr val="1C24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243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[Sourire, regarder la salle avant de parler — 5 secondes de silence.]
Bonjour à toutes et à tous, merci de m'accorder ce temps.
Je m'appelle Djibril. Dans les 15 prochaines minutes, je vais vous parler de quelque chose que vous vivez tous les jours : garder vos équipes informées, écoutées… et garder vos bons employés.
Et à la fin, je vais vous proposer une chose très simple, sans aucun risque pour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suis pas un vendeur qui arrive avec une solution toute faite pour une entreprise qu'il ne connaît pas. Je travaille ici. Je connais les quarts, le plancher, les babillards.
Et j'ai vu trois choses se répéter :
1) Une information importante qui n'arrive pas à tout le monde — souvent pas à ceux qui en avaient le plus besoin.
2) Des absences qui passent par des textos, des feuilles, la mémoire de quelqu'un.
3) Des collègues qui partent… et personne ne sait vraiment pourquoi. Alors le même problème revient avec la personne suivante.
[Pause] Est-ce que ça vous parle ? [Laisser hocher la tête.]
Alors j'ai construit l'outil que j'aurais voulu avoir.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chiffres, parce que c'est votre réalité.
Selon Gallup, remplacer un employé coûte entre la moitié et deux fois son salaire annuel.
Prenons un poste à 45 000 $ : chaque départ coûte entre 22 500 $ et 90 000 $. Le recrutement, la formation, les heures supplémentaires des collègues qui compensent, les erreurs du début, la productivité perdue.
[Pause] Et ce montant ne se paie pas une fois. Il se paie à chaque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il y a une bonne nouvelle.
Gallup a interrogé des employés qui ont quitté leur emploi volontairement : 42 % disent que leur gestionnaire ou leur entreprise aurait pu faire quelque chose pour les garder.
Et 45 % disent que, dans les trois mois avant leur départ, personne ne leur a parlé de leur satisfaction ou de leur avenir.
[Lentement] Le problème n'est pas que les gens partent. C'est qu'on l'apprend trop tard. Quand la lettre de démission arrive, la décision est prise depuis longtemps.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pense que chaque personne dans cette salle se pose ces quatre questions, toutes les semaines.
[Les lire une à une, en regardant la salle.]
Aujourd'hui, les réponses existent… mais elles sont éparpillées : dans des textos, des courriels, des papiers sur le babillard, et dans la tête de quelques personnes. Et quand ces personnes sont en congé, l'information part avec 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c'est Mindmate Compagny.
Un seul endroit pour tout ce qui concerne la vie des employés. Et cet endroit, il est dans leur poche : sur leur téléphone, comme une application, sans rien installer depuis un magasin d'applications.
Absences et congés, annonces, documents, messages, signalements, sondages, départements… et un module qui n'existe presque nulle part ailleurs : comprendre pourquoi les gens partent.
Je vous montre ce que ça change pour chacun : l'employé, le responsable, et vous, les 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l'employé, parce que si l'employé ne l'utilise pas, rien ne marche.
J'ai conçu l'application avec une règle : une maman de 60 ans qui n'aime pas la technologie doit y arriver du premier coup.
Il demande une absence en 30 secondes : il choisit le type, les dates, il envoie. Il voit tout de suite combien de jours il lui reste — l'application compte toute seule.
Il reçoit les annonces, les horaires et les documents directement sur son téléphone, avec une notification.
Il peut signaler un problème — même anonymement. Parce que certaines choses ne se disent jamais à voix haute.
Et il répond à des sondages courts quand vous voulez prendre le pouls des équipes.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entreprise de notre taille, avec des centaines d'employés, personne ne peut connaître tout le monde par cœur.
Alors chaque employé choisit son équipe en créant son compte — mécaniciens, électriciens, équipe générale, superviseurs… Vous décidez de la liste. Et un badge de couleur suit son nom partout dans l'application.
Ensuite, vous nommez des responsables. Le superviseur des électriciens approuve les absences des électriciens. Il voit combien de jours il restera à la personne, et s'il y a déjà quelqu'un d'absent ces jours-là. Il sait qui manque aujourd'hui. Il peut écrire directement à un membre de son équipe.
Et un point important : un responsable ne voit QUE ses équipes, et il ne voit jamais les signalements. Parce qu'un signalement peut le concerner. Ça, ça reste chez vous, aux 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pour vous, les RH ?
Un tableau de bord qui vous dit, en ouvrant l'application : combien d'absences attendent une réponse, qui est absent aujourd'hui, combien de signalements sont ouverts, qui vient d'arriver.
Les congés que l'entreprise offre — fermeture des fêtes, après-midi libre — vous les programmez une fois, et chaque personne concernée est prévenue sur son téléphone.
Des sondages dont les résultats se lisent en 10 secondes, avec la répartition par département.
Des signalements suivis du début à la fin.
Et pour 500 employés : filtrer par département, déplacer un groupe en un clic, exporter une liste en CSV ou en PDF.
Vous arrêtez de courir après l'information. C'est elle qui vient à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la partie dont je suis le plus fier.
Rappelez-vous : 42 % des départs auraient pu être évités. Mais pour éviter un départ, il faut savoir pourquoi les gens partent.
Quand quelqu'un quitte l'entreprise, il remplit un questionnaire de 3 minutes : la vraie raison, ce qui allait bien, ce qui n'allait pas, et ce qui l'aurait fait rester.
Mindmate transforme ces réponses en chiffres clairs. [Pointer le graphique] Ici, c'est un exemple — avec Mindmate, ce seront vos vrais chiffres.
Et l'application vous dit des choses comme : « le département Production perd 1,6 fois plus de monde que la moyenne, et c'est à cause des horaires ». Ça, c'est une information sur laquelle on peut agir — avant le prochain départ.
En bonus, la fin d'emploi est organisée : rendez-vous de transition, remise des clés, des accès, des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5 minutes maximum. Tout préparer AVANT la réunion :
- Onglet 1 : connecté avec un compte EMPLOYÉ de démonstration (dans un département, ex. Électriciens).
- Onglet 2 : connecté avec le compte RESPONSABLE des Électriciens.
- Onglet 3 : connecté avec le compte ADMIN.
- Avoir déjà 2-3 départements, quelques employés, une annonce, un sondage avec des réponses.
- Si possible, le téléphone de l'employé projeté ou montré à la salle.]
1) Employé : Congés et absences → choisir Vacances → montrer « Il te reste X jours » → dates → Envoyer.
   « Voilà. 30 secondes. »
2) Responsable : la cloche montre la notification → onglet « À approuver » → montrer « Jours restants après approbation » et « qui est déjà absent » → Approuver.
3) Onglet Calendrier : l'absence apparaît dans la couleur du type.
4) Admin : Congés → Programmer un congé (« Fermeture des fêtes », 24 déc. dès 13 h → 2 janv., toute l'entreprise) → Publier. Revenir sur l'onglet employé : la notification est arrivée.
5) Admin : Tableau de bord → montrer les cartes, puis Paramètres → Départements (badges et responsables).
Si quelque chose bloque : ne pas s'excuser longtemps. « La connexion de la salle fait des siennes, je vous le montre juste après sur mon téléphone. » et passer à la diapo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sais que la première question d'un service RH, c'est : « et les données de nos employés ? ». Vous avez raison de la poser.
Votre espace est fermé : les données de votre entreprise sont séparées de toutes les autres.
L'anonymat est réel : quand un employé fait un signalement anonyme, il n'y a aucun lien avec lui, même dans la base de données. Personne ne peut le retrouver, même pas moi.
Chacun voit ce qu'il doit voir. Un collègue voit qu'une personne est « absente », jamais qu'elle est « malade ». Un congé de maladie, c'est une information de santé.
Et c'est pensé pour les exigences du Québec en matière de renseignements personnels : un avis de confidentialité avant chaque réponse nominative, une durée de conservation que vous choisissez, et une suppression automatique ensuite.
[Si on vous pose une question juridique précise : « Excellente question — je vous reviens avec une réponse écrite. » Ne jamais improviser une réponse juridique.]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la question pratique : combien de temps pour mettre ça en place ?
Une journée.
Le matin, je m'assois avec vous et on crée votre espace : votre logo, vos départements, vos responsables.
À midi, on affiche un code d'invitation à la cafétéria et sur le babillard.
L'après-midi, chaque employé s'inscrit en deux minutes depuis son téléphone et choisit son équipe. Pas de liste à saisir, pas de comptes à créer un par un.
Et le lendemain, les demandes arrivent et les annonces partent.
Aucune application à télécharger dans un magasin, ça fonctionne sur iPhone, Android et ordinateur, et il n'y a rien à installer sur vos serveurs. Votre service informatique n'a pas de projet de plus sur les 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résumer ce que ça change, concrètement, dans 90 jours.
[Lire chaque ligne en passant de gauche à droite : « avant… avec Mindmate… »]
Le plus important, c'est la dernière ligne : tout au même endroit, pour tout le monde. Les RH, les responsables, et chaque employé — y compris celui qui n'est jamais devant un ordinateur.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vous demande pas de changer toute l'entreprise demain matin.
Je vous propose de commencer petit, avec un projet pilote.
On choisit un ou deux départements — ceux où le besoin se fait le plus sentir.
Je m'occupe de tout : la mise en place, sur place, avec vous. Et je réponds moi-même aux questions des employés.
Ensuite, on mesure ensemble : combien d'employés l'utilisent, combien d'absences ont été traitées, ce qu'en disent les employés et les responsables. Et c'est vous qui décidez de la suite.
[Pause. Regarder la personne qui décide.]
Alors la seule question aujourd'hui, c'est : quel département commence ?
[SE TAIRE. Laisser la salle répondre — ne pas combler le silence. Si on vous parle de prix : « On le fixe ensemble après le pilote, selon le nombre d'employés — l'important aujourd'hui, c'est de voir si ça vous aide.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écoute.
Des employés informés et écoutés, ce sont des employés qui restent.
Je suis disponible pour toutes vos questions — maintenant, ou cette semaine, directement sur le plancher.
[Questions fréquentes à préparer :
- « Combien ça coûte ? » → « On le fixe ensemble après le pilote, selon le nombre d'employés. »
- « Et si un employé n'a pas de téléphone ? » → « Il peut l'utiliser sur n'importe quel ordinateur, et son responsable peut l'aider. »
- « Qui a accès aux données ? » → « Vous seulement, selon les rôles. Un responsable ne voit que ses équipes et jamais les signalements. »
- « Et si on arrête ? » → « Vous pouvez arrêter à tout moment, et on vous remet vos listes en export.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B7BECC"/>
                </a:solidFill>
              </a:rPr>
              <a:t>Mindmate Compagny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5B6478"/>
                </a:solidFill>
              </a:rPr>
              <a:t>Mindmate Compagny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515600" cy="365760"/>
          </a:xfrm>
          <a:prstGeom prst="rect">
            <a:avLst/>
          </a:prstGeom>
          <a:noFill/>
          <a:ln/>
        </p:spPr>
        <p:txBody>
          <a:bodyPr wrap="square" lIns="0" tIns="0" rIns="0" bIns="0" rtlCol="0" anchor="ctr"/>
          <a:lstStyle/>
          <a:p>
            <a:pPr indent="0" marL="0">
              <a:buNone/>
            </a:pPr>
            <a:r>
              <a:rPr lang="en-US" sz="1300" b="1" spc="200" kern="0" dirty="0">
                <a:solidFill>
                  <a:srgbClr val="E0A43A"/>
                </a:solidFill>
              </a:rPr>
              <a:t>PRÉSENTATION À L'ÉQUIPE DES RESSOURCES HUMAINES  ·  2 OCTOBRE 2026</a:t>
            </a:r>
            <a:endParaRPr lang="en-US" sz="1300" dirty="0"/>
          </a:p>
        </p:txBody>
      </p:sp>
      <p:sp>
        <p:nvSpPr>
          <p:cNvPr id="3" name="Text 1"/>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Mindmate Compagny</a:t>
            </a:r>
            <a:endParaRPr lang="en-US" sz="6000" dirty="0"/>
          </a:p>
        </p:txBody>
      </p:sp>
      <p:sp>
        <p:nvSpPr>
          <p:cNvPr id="4" name="Text 2"/>
          <p:cNvSpPr txBox="1"/>
          <p:nvPr/>
        </p:nvSpPr>
        <p:spPr>
          <a:xfrm>
            <a:off x="731520" y="3063240"/>
            <a:ext cx="8229600" cy="1280160"/>
          </a:xfrm>
          <a:prstGeom prst="rect">
            <a:avLst/>
          </a:prstGeom>
          <a:noFill/>
          <a:ln/>
        </p:spPr>
        <p:txBody>
          <a:bodyPr wrap="square" lIns="0" tIns="0" rIns="0" bIns="0" rtlCol="0" anchor="ctr"/>
          <a:lstStyle/>
          <a:p>
            <a:pPr indent="0" marL="0">
              <a:buNone/>
            </a:pPr>
            <a:r>
              <a:rPr lang="en-US" sz="2800" i="1" dirty="0">
                <a:solidFill>
                  <a:srgbClr val="CFE7DE"/>
                </a:solidFill>
                <a:latin typeface="Cambria" pitchFamily="34" charset="0"/>
                <a:ea typeface="Cambria" pitchFamily="34" charset="-122"/>
                <a:cs typeface="Cambria" pitchFamily="34" charset="-120"/>
              </a:rPr>
              <a:t>Chaque employé informé, écouté —</a:t>
            </a:r>
            <a:endParaRPr lang="en-US" sz="2800" dirty="0"/>
          </a:p>
          <a:p>
            <a:pPr indent="0" marL="0">
              <a:buNone/>
            </a:pPr>
            <a:r>
              <a:rPr lang="en-US" sz="2800" i="1" dirty="0">
                <a:solidFill>
                  <a:srgbClr val="CFE7DE"/>
                </a:solidFill>
                <a:latin typeface="Cambria" pitchFamily="34" charset="0"/>
                <a:ea typeface="Cambria" pitchFamily="34" charset="-122"/>
                <a:cs typeface="Cambria" pitchFamily="34" charset="-120"/>
              </a:rPr>
              <a:t>et qui a envie de rester.</a:t>
            </a:r>
            <a:endParaRPr lang="en-US" sz="2800" dirty="0"/>
          </a:p>
        </p:txBody>
      </p:sp>
      <p:sp>
        <p:nvSpPr>
          <p:cNvPr id="5" name="Text 3"/>
          <p:cNvSpPr txBox="1"/>
          <p:nvPr/>
        </p:nvSpPr>
        <p:spPr>
          <a:xfrm>
            <a:off x="731520" y="4846320"/>
            <a:ext cx="5486400" cy="822960"/>
          </a:xfrm>
          <a:prstGeom prst="rect">
            <a:avLst/>
          </a:prstGeom>
          <a:noFill/>
          <a:ln/>
        </p:spPr>
        <p:txBody>
          <a:bodyPr wrap="square" lIns="0" tIns="0" rIns="0" bIns="0" rtlCol="0" anchor="ctr"/>
          <a:lstStyle/>
          <a:p>
            <a:pPr indent="0" marL="0">
              <a:buNone/>
            </a:pPr>
            <a:r>
              <a:rPr lang="en-US" sz="1600" b="1" dirty="0">
                <a:solidFill>
                  <a:schemeClr val="bg1"/>
                </a:solidFill>
              </a:rPr>
              <a:t>Présenté par Djibril</a:t>
            </a:r>
            <a:endParaRPr lang="en-US" sz="1600" dirty="0"/>
          </a:p>
          <a:p>
            <a:pPr indent="0" marL="0">
              <a:buNone/>
            </a:pPr>
            <a:r>
              <a:rPr lang="en-US" sz="1600" dirty="0">
                <a:solidFill>
                  <a:schemeClr val="bg1"/>
                </a:solidFill>
              </a:rPr>
              <a:t>www.mindmatecompagny.com</a:t>
            </a:r>
            <a:endParaRPr lang="en-US" sz="1600" dirty="0"/>
          </a:p>
        </p:txBody>
      </p:sp>
      <p:sp>
        <p:nvSpPr>
          <p:cNvPr id="6" name="icon-circle"/>
          <p:cNvSpPr/>
          <p:nvPr/>
        </p:nvSpPr>
        <p:spPr>
          <a:xfrm>
            <a:off x="9326880" y="4206240"/>
            <a:ext cx="1828800" cy="1828800"/>
          </a:xfrm>
          <a:prstGeom prst="ellipse">
            <a:avLst/>
          </a:prstGeom>
          <a:solidFill>
            <a:srgbClr val="2F6F5E"/>
          </a:solidFill>
          <a:ln/>
        </p:spPr>
      </p:sp>
      <p:pic>
        <p:nvPicPr>
          <p:cNvPr id="7" name="icon LuHeartHandshake" descr="preencoded.png">    </p:cNvPr>
          <p:cNvPicPr>
            <a:picLocks noChangeAspect="1"/>
          </p:cNvPicPr>
          <p:nvPr/>
        </p:nvPicPr>
        <p:blipFill>
          <a:blip r:embed="rId1"/>
          <a:stretch>
            <a:fillRect/>
          </a:stretch>
        </p:blipFill>
        <p:spPr>
          <a:xfrm>
            <a:off x="9765792" y="4645152"/>
            <a:ext cx="950976" cy="950976"/>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Je ne viens pas de l'extérieur. Je travaille ici.</a:t>
            </a:r>
            <a:endParaRPr lang="en-US" sz="3200" dirty="0"/>
          </a:p>
        </p:txBody>
      </p:sp>
      <p:sp>
        <p:nvSpPr>
          <p:cNvPr id="3" name="Text 1"/>
          <p:cNvSpPr txBox="1"/>
          <p:nvPr/>
        </p:nvSpPr>
        <p:spPr>
          <a:xfrm>
            <a:off x="548640" y="1371600"/>
            <a:ext cx="11064240" cy="548640"/>
          </a:xfrm>
          <a:prstGeom prst="rect">
            <a:avLst/>
          </a:prstGeom>
          <a:noFill/>
          <a:ln/>
        </p:spPr>
        <p:txBody>
          <a:bodyPr wrap="square" lIns="0" tIns="0" rIns="0" bIns="0" rtlCol="0" anchor="ctr"/>
          <a:lstStyle/>
          <a:p>
            <a:pPr indent="0" marL="0">
              <a:buNone/>
            </a:pPr>
            <a:r>
              <a:rPr lang="en-US" sz="1800" dirty="0">
                <a:solidFill>
                  <a:srgbClr val="5B6478"/>
                </a:solidFill>
              </a:rPr>
              <a:t>Comme vous, je vois le quotidien de l'usine de l'intérieur. Voici ce que j'ai observé, semaine après semaine :</a:t>
            </a:r>
            <a:endParaRPr lang="en-US" sz="1800" dirty="0"/>
          </a:p>
        </p:txBody>
      </p:sp>
      <p:sp>
        <p:nvSpPr>
          <p:cNvPr id="4" name="card"/>
          <p:cNvSpPr/>
          <p:nvPr/>
        </p:nvSpPr>
        <p:spPr>
          <a:xfrm>
            <a:off x="548640" y="2148840"/>
            <a:ext cx="3474720" cy="3108960"/>
          </a:xfrm>
          <a:prstGeom prst="roundRect">
            <a:avLst>
              <a:gd name="adj" fmla="val 3529"/>
            </a:avLst>
          </a:prstGeom>
          <a:solidFill>
            <a:schemeClr val="bg2"/>
          </a:solidFill>
          <a:ln/>
        </p:spPr>
      </p:sp>
      <p:sp>
        <p:nvSpPr>
          <p:cNvPr id="5" name="icon-circle"/>
          <p:cNvSpPr/>
          <p:nvPr/>
        </p:nvSpPr>
        <p:spPr>
          <a:xfrm>
            <a:off x="868680" y="2423160"/>
            <a:ext cx="822960" cy="822960"/>
          </a:xfrm>
          <a:prstGeom prst="ellipse">
            <a:avLst/>
          </a:prstGeom>
          <a:solidFill>
            <a:srgbClr val="E0A43A"/>
          </a:solidFill>
          <a:ln/>
        </p:spPr>
      </p:sp>
      <p:pic>
        <p:nvPicPr>
          <p:cNvPr id="6" name="icon LuMegaphone" descr="preencoded.png">    </p:cNvPr>
          <p:cNvPicPr>
            <a:picLocks noChangeAspect="1"/>
          </p:cNvPicPr>
          <p:nvPr/>
        </p:nvPicPr>
        <p:blipFill>
          <a:blip r:embed="rId1"/>
          <a:stretch>
            <a:fillRect/>
          </a:stretch>
        </p:blipFill>
        <p:spPr>
          <a:xfrm>
            <a:off x="1066190" y="2620670"/>
            <a:ext cx="427939" cy="427939"/>
          </a:xfrm>
          <a:prstGeom prst="rect">
            <a:avLst/>
          </a:prstGeom>
        </p:spPr>
      </p:pic>
      <p:sp>
        <p:nvSpPr>
          <p:cNvPr id="7" name="Text 4"/>
          <p:cNvSpPr txBox="1"/>
          <p:nvPr/>
        </p:nvSpPr>
        <p:spPr>
          <a:xfrm>
            <a:off x="868680" y="3383280"/>
            <a:ext cx="2834640" cy="914400"/>
          </a:xfrm>
          <a:prstGeom prst="rect">
            <a:avLst/>
          </a:prstGeom>
          <a:noFill/>
          <a:ln/>
        </p:spPr>
        <p:txBody>
          <a:bodyPr wrap="square" lIns="0" tIns="0" rIns="0" bIns="0" rtlCol="0" anchor="t"/>
          <a:lstStyle/>
          <a:p>
            <a:pPr indent="0" marL="0">
              <a:buNone/>
            </a:pPr>
            <a:r>
              <a:rPr lang="en-US" sz="1800" b="1" dirty="0">
                <a:solidFill>
                  <a:schemeClr val="tx1"/>
                </a:solidFill>
              </a:rPr>
              <a:t>Une info importante qui n'arrive pas à tout le monde</a:t>
            </a:r>
            <a:endParaRPr lang="en-US" sz="1800" dirty="0"/>
          </a:p>
        </p:txBody>
      </p:sp>
      <p:sp>
        <p:nvSpPr>
          <p:cNvPr id="8" name="Text 5"/>
          <p:cNvSpPr txBox="1"/>
          <p:nvPr/>
        </p:nvSpPr>
        <p:spPr>
          <a:xfrm>
            <a:off x="868680" y="4297680"/>
            <a:ext cx="2834640" cy="822960"/>
          </a:xfrm>
          <a:prstGeom prst="rect">
            <a:avLst/>
          </a:prstGeom>
          <a:noFill/>
          <a:ln/>
        </p:spPr>
        <p:txBody>
          <a:bodyPr wrap="square" lIns="0" tIns="0" rIns="0" bIns="0" rtlCol="0" anchor="t"/>
          <a:lstStyle/>
          <a:p>
            <a:pPr indent="0" marL="0">
              <a:buNone/>
            </a:pPr>
            <a:r>
              <a:rPr lang="en-US" sz="1400" dirty="0">
                <a:solidFill>
                  <a:srgbClr val="5B6478"/>
                </a:solidFill>
              </a:rPr>
              <a:t>Un changement d'horaire, une annonce… et un quart de travail qui l'apprend trop tard.</a:t>
            </a:r>
            <a:endParaRPr lang="en-US" sz="1400" dirty="0"/>
          </a:p>
        </p:txBody>
      </p:sp>
      <p:sp>
        <p:nvSpPr>
          <p:cNvPr id="9" name="card"/>
          <p:cNvSpPr/>
          <p:nvPr/>
        </p:nvSpPr>
        <p:spPr>
          <a:xfrm>
            <a:off x="4297680" y="2148840"/>
            <a:ext cx="3474720" cy="3108960"/>
          </a:xfrm>
          <a:prstGeom prst="roundRect">
            <a:avLst>
              <a:gd name="adj" fmla="val 3529"/>
            </a:avLst>
          </a:prstGeom>
          <a:solidFill>
            <a:schemeClr val="bg2"/>
          </a:solidFill>
          <a:ln/>
        </p:spPr>
      </p:sp>
      <p:sp>
        <p:nvSpPr>
          <p:cNvPr id="10" name="icon-circle"/>
          <p:cNvSpPr/>
          <p:nvPr/>
        </p:nvSpPr>
        <p:spPr>
          <a:xfrm>
            <a:off x="4617720" y="2423160"/>
            <a:ext cx="822960" cy="822960"/>
          </a:xfrm>
          <a:prstGeom prst="ellipse">
            <a:avLst/>
          </a:prstGeom>
          <a:solidFill>
            <a:srgbClr val="3F6FB0"/>
          </a:solidFill>
          <a:ln/>
        </p:spPr>
      </p:sp>
      <p:pic>
        <p:nvPicPr>
          <p:cNvPr id="11" name="icon LuClipboardList" descr="preencoded.png">    </p:cNvPr>
          <p:cNvPicPr>
            <a:picLocks noChangeAspect="1"/>
          </p:cNvPicPr>
          <p:nvPr/>
        </p:nvPicPr>
        <p:blipFill>
          <a:blip r:embed="rId2"/>
          <a:stretch>
            <a:fillRect/>
          </a:stretch>
        </p:blipFill>
        <p:spPr>
          <a:xfrm>
            <a:off x="4815230" y="2620670"/>
            <a:ext cx="427939" cy="427939"/>
          </a:xfrm>
          <a:prstGeom prst="rect">
            <a:avLst/>
          </a:prstGeom>
        </p:spPr>
      </p:pic>
      <p:sp>
        <p:nvSpPr>
          <p:cNvPr id="12" name="Text 8"/>
          <p:cNvSpPr txBox="1"/>
          <p:nvPr/>
        </p:nvSpPr>
        <p:spPr>
          <a:xfrm>
            <a:off x="4617720" y="3383280"/>
            <a:ext cx="2834640" cy="914400"/>
          </a:xfrm>
          <a:prstGeom prst="rect">
            <a:avLst/>
          </a:prstGeom>
          <a:noFill/>
          <a:ln/>
        </p:spPr>
        <p:txBody>
          <a:bodyPr wrap="square" lIns="0" tIns="0" rIns="0" bIns="0" rtlCol="0" anchor="t"/>
          <a:lstStyle/>
          <a:p>
            <a:pPr indent="0" marL="0">
              <a:buNone/>
            </a:pPr>
            <a:r>
              <a:rPr lang="en-US" sz="1800" b="1" dirty="0">
                <a:solidFill>
                  <a:schemeClr val="tx1"/>
                </a:solidFill>
              </a:rPr>
              <a:t>Des absences gérées par texto, papier et mémoire</a:t>
            </a:r>
            <a:endParaRPr lang="en-US" sz="1800" dirty="0"/>
          </a:p>
        </p:txBody>
      </p:sp>
      <p:sp>
        <p:nvSpPr>
          <p:cNvPr id="13" name="Text 9"/>
          <p:cNvSpPr txBox="1"/>
          <p:nvPr/>
        </p:nvSpPr>
        <p:spPr>
          <a:xfrm>
            <a:off x="4617720" y="4297680"/>
            <a:ext cx="2834640" cy="822960"/>
          </a:xfrm>
          <a:prstGeom prst="rect">
            <a:avLst/>
          </a:prstGeom>
          <a:noFill/>
          <a:ln/>
        </p:spPr>
        <p:txBody>
          <a:bodyPr wrap="square" lIns="0" tIns="0" rIns="0" bIns="0" rtlCol="0" anchor="t"/>
          <a:lstStyle/>
          <a:p>
            <a:pPr indent="0" marL="0">
              <a:buNone/>
            </a:pPr>
            <a:r>
              <a:rPr lang="en-US" sz="1400" dirty="0">
                <a:solidFill>
                  <a:srgbClr val="5B6478"/>
                </a:solidFill>
              </a:rPr>
              <a:t>Qui a demandé quoi ? Qui l'a approuvé ? Qui manque aujourd'hui ?</a:t>
            </a:r>
            <a:endParaRPr lang="en-US" sz="1400" dirty="0"/>
          </a:p>
        </p:txBody>
      </p:sp>
      <p:sp>
        <p:nvSpPr>
          <p:cNvPr id="14" name="card"/>
          <p:cNvSpPr/>
          <p:nvPr/>
        </p:nvSpPr>
        <p:spPr>
          <a:xfrm>
            <a:off x="8046720" y="2148840"/>
            <a:ext cx="3474720" cy="3108960"/>
          </a:xfrm>
          <a:prstGeom prst="roundRect">
            <a:avLst>
              <a:gd name="adj" fmla="val 3529"/>
            </a:avLst>
          </a:prstGeom>
          <a:solidFill>
            <a:schemeClr val="bg2"/>
          </a:solidFill>
          <a:ln/>
        </p:spPr>
      </p:sp>
      <p:sp>
        <p:nvSpPr>
          <p:cNvPr id="15" name="icon-circle"/>
          <p:cNvSpPr/>
          <p:nvPr/>
        </p:nvSpPr>
        <p:spPr>
          <a:xfrm>
            <a:off x="8366760" y="2423160"/>
            <a:ext cx="822960" cy="822960"/>
          </a:xfrm>
          <a:prstGeom prst="ellipse">
            <a:avLst/>
          </a:prstGeom>
          <a:solidFill>
            <a:srgbClr val="C9542C"/>
          </a:solidFill>
          <a:ln/>
        </p:spPr>
      </p:sp>
      <p:pic>
        <p:nvPicPr>
          <p:cNvPr id="16" name="icon LuDoorOpen" descr="preencoded.png">    </p:cNvPr>
          <p:cNvPicPr>
            <a:picLocks noChangeAspect="1"/>
          </p:cNvPicPr>
          <p:nvPr/>
        </p:nvPicPr>
        <p:blipFill>
          <a:blip r:embed="rId3"/>
          <a:stretch>
            <a:fillRect/>
          </a:stretch>
        </p:blipFill>
        <p:spPr>
          <a:xfrm>
            <a:off x="8564270" y="2620670"/>
            <a:ext cx="427939" cy="427939"/>
          </a:xfrm>
          <a:prstGeom prst="rect">
            <a:avLst/>
          </a:prstGeom>
        </p:spPr>
      </p:pic>
      <p:sp>
        <p:nvSpPr>
          <p:cNvPr id="17" name="Text 12"/>
          <p:cNvSpPr txBox="1"/>
          <p:nvPr/>
        </p:nvSpPr>
        <p:spPr>
          <a:xfrm>
            <a:off x="8366760" y="3383280"/>
            <a:ext cx="2834640" cy="914400"/>
          </a:xfrm>
          <a:prstGeom prst="rect">
            <a:avLst/>
          </a:prstGeom>
          <a:noFill/>
          <a:ln/>
        </p:spPr>
        <p:txBody>
          <a:bodyPr wrap="square" lIns="0" tIns="0" rIns="0" bIns="0" rtlCol="0" anchor="t"/>
          <a:lstStyle/>
          <a:p>
            <a:pPr indent="0" marL="0">
              <a:buNone/>
            </a:pPr>
            <a:r>
              <a:rPr lang="en-US" sz="1800" b="1" dirty="0">
                <a:solidFill>
                  <a:schemeClr val="tx1"/>
                </a:solidFill>
              </a:rPr>
              <a:t>Des collègues qui partent… sans qu'on sache pourquoi</a:t>
            </a:r>
            <a:endParaRPr lang="en-US" sz="1800" dirty="0"/>
          </a:p>
        </p:txBody>
      </p:sp>
      <p:sp>
        <p:nvSpPr>
          <p:cNvPr id="18" name="Text 13"/>
          <p:cNvSpPr txBox="1"/>
          <p:nvPr/>
        </p:nvSpPr>
        <p:spPr>
          <a:xfrm>
            <a:off x="8366760" y="4297680"/>
            <a:ext cx="2834640" cy="822960"/>
          </a:xfrm>
          <a:prstGeom prst="rect">
            <a:avLst/>
          </a:prstGeom>
          <a:noFill/>
          <a:ln/>
        </p:spPr>
        <p:txBody>
          <a:bodyPr wrap="square" lIns="0" tIns="0" rIns="0" bIns="0" rtlCol="0" anchor="t"/>
          <a:lstStyle/>
          <a:p>
            <a:pPr indent="0" marL="0">
              <a:buNone/>
            </a:pPr>
            <a:r>
              <a:rPr lang="en-US" sz="1400" dirty="0">
                <a:solidFill>
                  <a:srgbClr val="5B6478"/>
                </a:solidFill>
              </a:rPr>
              <a:t>Et le même problème se répète avec le suivant.</a:t>
            </a:r>
            <a:endParaRPr lang="en-US" sz="1400" dirty="0"/>
          </a:p>
        </p:txBody>
      </p:sp>
      <p:sp>
        <p:nvSpPr>
          <p:cNvPr id="19" name="Text 14"/>
          <p:cNvSpPr txBox="1"/>
          <p:nvPr/>
        </p:nvSpPr>
        <p:spPr>
          <a:xfrm>
            <a:off x="548640" y="5532120"/>
            <a:ext cx="11064240" cy="457200"/>
          </a:xfrm>
          <a:prstGeom prst="rect">
            <a:avLst/>
          </a:prstGeom>
          <a:noFill/>
          <a:ln/>
        </p:spPr>
        <p:txBody>
          <a:bodyPr wrap="square" lIns="0" tIns="0" rIns="0" bIns="0" rtlCol="0" anchor="ctr"/>
          <a:lstStyle/>
          <a:p>
            <a:pPr indent="0" marL="0">
              <a:buNone/>
            </a:pPr>
            <a:r>
              <a:rPr lang="en-US" sz="2200" i="1" dirty="0">
                <a:solidFill>
                  <a:schemeClr val="accent1"/>
                </a:solidFill>
                <a:latin typeface="Cambria" pitchFamily="34" charset="0"/>
                <a:ea typeface="Cambria" pitchFamily="34" charset="-122"/>
                <a:cs typeface="Cambria" pitchFamily="34" charset="-120"/>
              </a:rPr>
              <a:t>Alors j'ai construit l'outil que j'aurais voulu avoir.</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400" b="1" spc="200" kern="0" dirty="0">
                <a:solidFill>
                  <a:srgbClr val="E0A43A"/>
                </a:solidFill>
              </a:rPr>
              <a:t>CE QUE COÛTE UN DÉPART</a:t>
            </a:r>
            <a:endParaRPr lang="en-US" sz="1400" dirty="0"/>
          </a:p>
        </p:txBody>
      </p:sp>
      <p:sp>
        <p:nvSpPr>
          <p:cNvPr id="3" name="Text 1"/>
          <p:cNvSpPr txBox="1"/>
          <p:nvPr/>
        </p:nvSpPr>
        <p:spPr>
          <a:xfrm>
            <a:off x="731520" y="1325880"/>
            <a:ext cx="5852160" cy="1828800"/>
          </a:xfrm>
          <a:prstGeom prst="rect">
            <a:avLst/>
          </a:prstGeom>
          <a:noFill/>
          <a:ln/>
        </p:spPr>
        <p:txBody>
          <a:bodyPr wrap="square" lIns="0" tIns="0" rIns="0" bIns="0" rtlCol="0" anchor="ctr"/>
          <a:lstStyle/>
          <a:p>
            <a:pPr indent="0" marL="0">
              <a:buNone/>
            </a:pPr>
            <a:r>
              <a:rPr lang="en-US" sz="11000" b="1" dirty="0">
                <a:solidFill>
                  <a:schemeClr val="bg1"/>
                </a:solidFill>
                <a:latin typeface="Cambria" pitchFamily="34" charset="0"/>
                <a:ea typeface="Cambria" pitchFamily="34" charset="-122"/>
                <a:cs typeface="Cambria" pitchFamily="34" charset="-120"/>
              </a:rPr>
              <a:t>½× à 2×</a:t>
            </a:r>
            <a:endParaRPr lang="en-US" sz="11000" dirty="0"/>
          </a:p>
        </p:txBody>
      </p:sp>
      <p:sp>
        <p:nvSpPr>
          <p:cNvPr id="4" name="Text 2"/>
          <p:cNvSpPr txBox="1"/>
          <p:nvPr/>
        </p:nvSpPr>
        <p:spPr>
          <a:xfrm>
            <a:off x="731520" y="3246120"/>
            <a:ext cx="5852160" cy="1097280"/>
          </a:xfrm>
          <a:prstGeom prst="rect">
            <a:avLst/>
          </a:prstGeom>
          <a:noFill/>
          <a:ln/>
        </p:spPr>
        <p:txBody>
          <a:bodyPr wrap="square" lIns="0" tIns="0" rIns="0" bIns="0" rtlCol="0" anchor="ctr"/>
          <a:lstStyle/>
          <a:p>
            <a:pPr indent="0" marL="0">
              <a:buNone/>
            </a:pPr>
            <a:r>
              <a:rPr lang="en-US" sz="2400" dirty="0">
                <a:solidFill>
                  <a:srgbClr val="CFE7DE"/>
                </a:solidFill>
              </a:rPr>
              <a:t>le salaire annuel de la personne :</a:t>
            </a:r>
            <a:endParaRPr lang="en-US" sz="2400" dirty="0"/>
          </a:p>
          <a:p>
            <a:pPr indent="0" marL="0">
              <a:buNone/>
            </a:pPr>
            <a:r>
              <a:rPr lang="en-US" sz="2400" dirty="0">
                <a:solidFill>
                  <a:srgbClr val="CFE7DE"/>
                </a:solidFill>
              </a:rPr>
              <a:t>c'est ce que coûte son remplacement.</a:t>
            </a:r>
            <a:endParaRPr lang="en-US" sz="2400" dirty="0"/>
          </a:p>
        </p:txBody>
      </p:sp>
      <p:sp>
        <p:nvSpPr>
          <p:cNvPr id="5" name="example-card"/>
          <p:cNvSpPr/>
          <p:nvPr/>
        </p:nvSpPr>
        <p:spPr>
          <a:xfrm>
            <a:off x="7132320" y="1371600"/>
            <a:ext cx="4297680" cy="3566160"/>
          </a:xfrm>
          <a:prstGeom prst="roundRect">
            <a:avLst>
              <a:gd name="adj" fmla="val 3077"/>
            </a:avLst>
          </a:prstGeom>
          <a:solidFill>
            <a:srgbClr val="26304A"/>
          </a:solidFill>
          <a:ln/>
        </p:spPr>
      </p:sp>
      <p:sp>
        <p:nvSpPr>
          <p:cNvPr id="6" name="Text 4"/>
          <p:cNvSpPr txBox="1"/>
          <p:nvPr/>
        </p:nvSpPr>
        <p:spPr>
          <a:xfrm>
            <a:off x="7452360" y="1645920"/>
            <a:ext cx="3657600" cy="365760"/>
          </a:xfrm>
          <a:prstGeom prst="rect">
            <a:avLst/>
          </a:prstGeom>
          <a:noFill/>
          <a:ln/>
        </p:spPr>
        <p:txBody>
          <a:bodyPr wrap="square" lIns="0" tIns="0" rIns="0" bIns="0" rtlCol="0" anchor="ctr"/>
          <a:lstStyle/>
          <a:p>
            <a:pPr indent="0" marL="0">
              <a:buNone/>
            </a:pPr>
            <a:r>
              <a:rPr lang="en-US" sz="1400" b="1" dirty="0">
                <a:solidFill>
                  <a:srgbClr val="E0A43A"/>
                </a:solidFill>
              </a:rPr>
              <a:t>Exemple concret</a:t>
            </a:r>
            <a:endParaRPr lang="en-US" sz="1400" dirty="0"/>
          </a:p>
        </p:txBody>
      </p:sp>
      <p:sp>
        <p:nvSpPr>
          <p:cNvPr id="7" name="Text 5"/>
          <p:cNvSpPr txBox="1"/>
          <p:nvPr/>
        </p:nvSpPr>
        <p:spPr>
          <a:xfrm>
            <a:off x="7452360" y="2057400"/>
            <a:ext cx="3657600" cy="457200"/>
          </a:xfrm>
          <a:prstGeom prst="rect">
            <a:avLst/>
          </a:prstGeom>
          <a:noFill/>
          <a:ln/>
        </p:spPr>
        <p:txBody>
          <a:bodyPr wrap="square" lIns="0" tIns="0" rIns="0" bIns="0" rtlCol="0" anchor="ctr"/>
          <a:lstStyle/>
          <a:p>
            <a:pPr indent="0" marL="0">
              <a:buNone/>
            </a:pPr>
            <a:r>
              <a:rPr lang="en-US" sz="1800" dirty="0">
                <a:solidFill>
                  <a:schemeClr val="bg1"/>
                </a:solidFill>
              </a:rPr>
              <a:t>Un poste à 45 000 $ par an</a:t>
            </a:r>
            <a:endParaRPr lang="en-US" sz="1800" dirty="0"/>
          </a:p>
        </p:txBody>
      </p:sp>
      <p:sp>
        <p:nvSpPr>
          <p:cNvPr id="8" name="Text 6"/>
          <p:cNvSpPr txBox="1"/>
          <p:nvPr/>
        </p:nvSpPr>
        <p:spPr>
          <a:xfrm>
            <a:off x="7452360" y="2606040"/>
            <a:ext cx="3657600" cy="73152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22 500 $ à 90 000 $</a:t>
            </a:r>
            <a:endParaRPr lang="en-US" sz="3400" dirty="0"/>
          </a:p>
        </p:txBody>
      </p:sp>
      <p:sp>
        <p:nvSpPr>
          <p:cNvPr id="9" name="Text 7"/>
          <p:cNvSpPr txBox="1"/>
          <p:nvPr/>
        </p:nvSpPr>
        <p:spPr>
          <a:xfrm>
            <a:off x="7452360" y="3429000"/>
            <a:ext cx="3657600" cy="1188720"/>
          </a:xfrm>
          <a:prstGeom prst="rect">
            <a:avLst/>
          </a:prstGeom>
          <a:noFill/>
          <a:ln/>
        </p:spPr>
        <p:txBody>
          <a:bodyPr wrap="square" lIns="0" tIns="0" rIns="0" bIns="0" rtlCol="0" anchor="ctr"/>
          <a:lstStyle/>
          <a:p>
            <a:pPr indent="0" marL="0">
              <a:buNone/>
            </a:pPr>
            <a:r>
              <a:rPr lang="en-US" sz="1400" dirty="0">
                <a:solidFill>
                  <a:srgbClr val="B7BECC"/>
                </a:solidFill>
              </a:rPr>
              <a:t>recrutement, formation, heures supplémentaires des collègues, erreurs, productivité perdue…</a:t>
            </a:r>
            <a:endParaRPr lang="en-US" sz="1400" dirty="0"/>
          </a:p>
        </p:txBody>
      </p:sp>
      <p:sp>
        <p:nvSpPr>
          <p:cNvPr id="10" name="Text 8"/>
          <p:cNvSpPr txBox="1"/>
          <p:nvPr/>
        </p:nvSpPr>
        <p:spPr>
          <a:xfrm>
            <a:off x="731520" y="4754880"/>
            <a:ext cx="5852160" cy="457200"/>
          </a:xfrm>
          <a:prstGeom prst="rect">
            <a:avLst/>
          </a:prstGeom>
          <a:noFill/>
          <a:ln/>
        </p:spPr>
        <p:txBody>
          <a:bodyPr wrap="square" lIns="0" tIns="0" rIns="0" bIns="0" rtlCol="0" anchor="ctr"/>
          <a:lstStyle/>
          <a:p>
            <a:pPr indent="0" marL="0">
              <a:buNone/>
            </a:pPr>
            <a:r>
              <a:rPr lang="en-US" sz="1800" b="1" dirty="0">
                <a:solidFill>
                  <a:srgbClr val="E0A43A"/>
                </a:solidFill>
              </a:rPr>
              <a:t>Et ce montant se répète à chaque départ.</a:t>
            </a:r>
            <a:endParaRPr lang="en-US" sz="1800" dirty="0"/>
          </a:p>
        </p:txBody>
      </p:sp>
      <p:sp>
        <p:nvSpPr>
          <p:cNvPr id="11" name="source"/>
          <p:cNvSpPr txBox="1"/>
          <p:nvPr/>
        </p:nvSpPr>
        <p:spPr>
          <a:xfrm>
            <a:off x="548640" y="5989320"/>
            <a:ext cx="10515600" cy="274320"/>
          </a:xfrm>
          <a:prstGeom prst="rect">
            <a:avLst/>
          </a:prstGeom>
          <a:noFill/>
          <a:ln/>
        </p:spPr>
        <p:txBody>
          <a:bodyPr wrap="square" lIns="0" tIns="0" rIns="0" bIns="0" rtlCol="0" anchor="ctr"/>
          <a:lstStyle/>
          <a:p>
            <a:pPr indent="0" marL="0">
              <a:buNone/>
            </a:pPr>
            <a:r>
              <a:rPr lang="en-US" sz="1000" i="1" dirty="0">
                <a:solidFill>
                  <a:srgbClr val="B7BECC"/>
                </a:solidFill>
              </a:rPr>
              <a:t>Source : Gallup, « This Fixable Problem Costs U.S. Businesses $1 Trillion », 2019.</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La bonne nouvelle : une grande partie est évitable</a:t>
            </a:r>
            <a:endParaRPr lang="en-US" sz="3200" dirty="0"/>
          </a:p>
        </p:txBody>
      </p:sp>
      <p:sp>
        <p:nvSpPr>
          <p:cNvPr id="3" name="card"/>
          <p:cNvSpPr/>
          <p:nvPr/>
        </p:nvSpPr>
        <p:spPr>
          <a:xfrm>
            <a:off x="548640" y="1508760"/>
            <a:ext cx="5394960" cy="3200400"/>
          </a:xfrm>
          <a:prstGeom prst="roundRect">
            <a:avLst>
              <a:gd name="adj" fmla="val 3429"/>
            </a:avLst>
          </a:prstGeom>
          <a:solidFill>
            <a:schemeClr val="bg2"/>
          </a:solidFill>
          <a:ln/>
        </p:spPr>
      </p:sp>
      <p:sp>
        <p:nvSpPr>
          <p:cNvPr id="4" name="Text 2"/>
          <p:cNvSpPr txBox="1"/>
          <p:nvPr/>
        </p:nvSpPr>
        <p:spPr>
          <a:xfrm>
            <a:off x="960120" y="1737360"/>
            <a:ext cx="4572000" cy="1280160"/>
          </a:xfrm>
          <a:prstGeom prst="rect">
            <a:avLst/>
          </a:prstGeom>
          <a:noFill/>
          <a:ln/>
        </p:spPr>
        <p:txBody>
          <a:bodyPr wrap="square" lIns="0" tIns="0" rIns="0" bIns="0" rtlCol="0" anchor="ctr"/>
          <a:lstStyle/>
          <a:p>
            <a:pPr indent="0" marL="0">
              <a:buNone/>
            </a:pPr>
            <a:r>
              <a:rPr lang="en-US" sz="8000" b="1" dirty="0">
                <a:solidFill>
                  <a:schemeClr val="accent1"/>
                </a:solidFill>
                <a:latin typeface="Cambria" pitchFamily="34" charset="0"/>
                <a:ea typeface="Cambria" pitchFamily="34" charset="-122"/>
                <a:cs typeface="Cambria" pitchFamily="34" charset="-120"/>
              </a:rPr>
              <a:t>42 %</a:t>
            </a:r>
            <a:endParaRPr lang="en-US" sz="8000" dirty="0"/>
          </a:p>
        </p:txBody>
      </p:sp>
      <p:sp>
        <p:nvSpPr>
          <p:cNvPr id="5" name="Text 3"/>
          <p:cNvSpPr txBox="1"/>
          <p:nvPr/>
        </p:nvSpPr>
        <p:spPr>
          <a:xfrm>
            <a:off x="960120" y="3063240"/>
            <a:ext cx="4572000" cy="1463040"/>
          </a:xfrm>
          <a:prstGeom prst="rect">
            <a:avLst/>
          </a:prstGeom>
          <a:noFill/>
          <a:ln/>
        </p:spPr>
        <p:txBody>
          <a:bodyPr wrap="square" lIns="0" tIns="0" rIns="0" bIns="0" rtlCol="0" anchor="t"/>
          <a:lstStyle/>
          <a:p>
            <a:pPr indent="0" marL="0">
              <a:buNone/>
            </a:pPr>
            <a:r>
              <a:rPr lang="en-US" sz="1800" dirty="0">
                <a:solidFill>
                  <a:schemeClr val="tx1"/>
                </a:solidFill>
              </a:rPr>
              <a:t>des employés partis volontairement disent que leur gestionnaire ou leur entreprise aurait pu faire quelque chose pour les retenir.</a:t>
            </a:r>
            <a:endParaRPr lang="en-US" sz="1800" dirty="0"/>
          </a:p>
        </p:txBody>
      </p:sp>
      <p:sp>
        <p:nvSpPr>
          <p:cNvPr id="6" name="card"/>
          <p:cNvSpPr/>
          <p:nvPr/>
        </p:nvSpPr>
        <p:spPr>
          <a:xfrm>
            <a:off x="6217920" y="1508760"/>
            <a:ext cx="5394960" cy="3200400"/>
          </a:xfrm>
          <a:prstGeom prst="roundRect">
            <a:avLst>
              <a:gd name="adj" fmla="val 3429"/>
            </a:avLst>
          </a:prstGeom>
          <a:solidFill>
            <a:schemeClr val="bg2"/>
          </a:solidFill>
          <a:ln/>
        </p:spPr>
      </p:sp>
      <p:sp>
        <p:nvSpPr>
          <p:cNvPr id="7" name="Text 5"/>
          <p:cNvSpPr txBox="1"/>
          <p:nvPr/>
        </p:nvSpPr>
        <p:spPr>
          <a:xfrm>
            <a:off x="6629400" y="1737360"/>
            <a:ext cx="4572000" cy="1280160"/>
          </a:xfrm>
          <a:prstGeom prst="rect">
            <a:avLst/>
          </a:prstGeom>
          <a:noFill/>
          <a:ln/>
        </p:spPr>
        <p:txBody>
          <a:bodyPr wrap="square" lIns="0" tIns="0" rIns="0" bIns="0" rtlCol="0" anchor="ctr"/>
          <a:lstStyle/>
          <a:p>
            <a:pPr indent="0" marL="0">
              <a:buNone/>
            </a:pPr>
            <a:r>
              <a:rPr lang="en-US" sz="8000" b="1" dirty="0">
                <a:solidFill>
                  <a:schemeClr val="accent4"/>
                </a:solidFill>
                <a:latin typeface="Cambria" pitchFamily="34" charset="0"/>
                <a:ea typeface="Cambria" pitchFamily="34" charset="-122"/>
                <a:cs typeface="Cambria" pitchFamily="34" charset="-120"/>
              </a:rPr>
              <a:t>45 %</a:t>
            </a:r>
            <a:endParaRPr lang="en-US" sz="8000" dirty="0"/>
          </a:p>
        </p:txBody>
      </p:sp>
      <p:sp>
        <p:nvSpPr>
          <p:cNvPr id="8" name="Text 6"/>
          <p:cNvSpPr txBox="1"/>
          <p:nvPr/>
        </p:nvSpPr>
        <p:spPr>
          <a:xfrm>
            <a:off x="6629400" y="3063240"/>
            <a:ext cx="4572000" cy="1463040"/>
          </a:xfrm>
          <a:prstGeom prst="rect">
            <a:avLst/>
          </a:prstGeom>
          <a:noFill/>
          <a:ln/>
        </p:spPr>
        <p:txBody>
          <a:bodyPr wrap="square" lIns="0" tIns="0" rIns="0" bIns="0" rtlCol="0" anchor="t"/>
          <a:lstStyle/>
          <a:p>
            <a:pPr indent="0" marL="0">
              <a:buNone/>
            </a:pPr>
            <a:r>
              <a:rPr lang="en-US" sz="1800" dirty="0">
                <a:solidFill>
                  <a:schemeClr val="tx1"/>
                </a:solidFill>
              </a:rPr>
              <a:t>n'ont eu AUCUNE conversation avec un gestionnaire sur leur satisfaction ou leur avenir dans les 3 mois avant de partir.</a:t>
            </a:r>
            <a:endParaRPr lang="en-US" sz="1800" dirty="0"/>
          </a:p>
        </p:txBody>
      </p:sp>
      <p:sp>
        <p:nvSpPr>
          <p:cNvPr id="9" name="takeaway"/>
          <p:cNvSpPr/>
          <p:nvPr/>
        </p:nvSpPr>
        <p:spPr>
          <a:xfrm>
            <a:off x="548640" y="4983480"/>
            <a:ext cx="11064240" cy="868680"/>
          </a:xfrm>
          <a:prstGeom prst="roundRect">
            <a:avLst>
              <a:gd name="adj" fmla="val 12632"/>
            </a:avLst>
          </a:prstGeom>
          <a:solidFill>
            <a:srgbClr val="E7F3EF"/>
          </a:solidFill>
          <a:ln/>
        </p:spPr>
      </p:sp>
      <p:sp>
        <p:nvSpPr>
          <p:cNvPr id="10" name="Text 8"/>
          <p:cNvSpPr txBox="1"/>
          <p:nvPr/>
        </p:nvSpPr>
        <p:spPr>
          <a:xfrm>
            <a:off x="822960" y="4983480"/>
            <a:ext cx="10515600" cy="868680"/>
          </a:xfrm>
          <a:prstGeom prst="rect">
            <a:avLst/>
          </a:prstGeom>
          <a:noFill/>
          <a:ln/>
        </p:spPr>
        <p:txBody>
          <a:bodyPr wrap="square" lIns="0" tIns="0" rIns="0" bIns="0" rtlCol="0" anchor="ctr"/>
          <a:lstStyle/>
          <a:p>
            <a:pPr indent="0" marL="0">
              <a:buNone/>
            </a:pPr>
            <a:r>
              <a:rPr lang="en-US" sz="2200" b="1" i="1" dirty="0">
                <a:solidFill>
                  <a:schemeClr val="accent1"/>
                </a:solidFill>
                <a:latin typeface="Cambria" pitchFamily="34" charset="0"/>
                <a:ea typeface="Cambria" pitchFamily="34" charset="-122"/>
                <a:cs typeface="Cambria" pitchFamily="34" charset="-120"/>
              </a:rPr>
              <a:t>Le problème n'est pas que les gens partent. C'est qu'on l'apprend trop tard.</a:t>
            </a:r>
            <a:endParaRPr lang="en-US" sz="2200" dirty="0"/>
          </a:p>
        </p:txBody>
      </p:sp>
      <p:sp>
        <p:nvSpPr>
          <p:cNvPr id="11" name="source"/>
          <p:cNvSpPr txBox="1"/>
          <p:nvPr/>
        </p:nvSpPr>
        <p:spPr>
          <a:xfrm>
            <a:off x="548640" y="5989320"/>
            <a:ext cx="10515600" cy="274320"/>
          </a:xfrm>
          <a:prstGeom prst="rect">
            <a:avLst/>
          </a:prstGeom>
          <a:noFill/>
          <a:ln/>
        </p:spPr>
        <p:txBody>
          <a:bodyPr wrap="square" lIns="0" tIns="0" rIns="0" bIns="0" rtlCol="0" anchor="ctr"/>
          <a:lstStyle/>
          <a:p>
            <a:pPr indent="0" marL="0">
              <a:buNone/>
            </a:pPr>
            <a:r>
              <a:rPr lang="en-US" sz="1000" i="1" dirty="0">
                <a:solidFill>
                  <a:srgbClr val="5B6478"/>
                </a:solidFill>
              </a:rPr>
              <a:t>Source : Gallup, « Employee Turnover: Preventable, Yet Often Ignored », 2024.</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Les 4 questions de chaque lundi matin</a:t>
            </a:r>
            <a:endParaRPr lang="en-US" sz="3200" dirty="0"/>
          </a:p>
        </p:txBody>
      </p:sp>
      <p:sp>
        <p:nvSpPr>
          <p:cNvPr id="3" name="card"/>
          <p:cNvSpPr/>
          <p:nvPr/>
        </p:nvSpPr>
        <p:spPr>
          <a:xfrm>
            <a:off x="548640" y="1463040"/>
            <a:ext cx="5394960" cy="1463040"/>
          </a:xfrm>
          <a:prstGeom prst="roundRect">
            <a:avLst>
              <a:gd name="adj" fmla="val 7500"/>
            </a:avLst>
          </a:prstGeom>
          <a:solidFill>
            <a:schemeClr val="bg2"/>
          </a:solidFill>
          <a:ln/>
        </p:spPr>
      </p:sp>
      <p:sp>
        <p:nvSpPr>
          <p:cNvPr id="4" name="icon-circle"/>
          <p:cNvSpPr/>
          <p:nvPr/>
        </p:nvSpPr>
        <p:spPr>
          <a:xfrm>
            <a:off x="822960" y="1783080"/>
            <a:ext cx="822960" cy="822960"/>
          </a:xfrm>
          <a:prstGeom prst="ellipse">
            <a:avLst/>
          </a:prstGeom>
          <a:solidFill>
            <a:srgbClr val="E0A43A"/>
          </a:solidFill>
          <a:ln/>
        </p:spPr>
      </p:sp>
      <p:pic>
        <p:nvPicPr>
          <p:cNvPr id="5" name="icon LuCalendarDays" descr="preencoded.png">    </p:cNvPr>
          <p:cNvPicPr>
            <a:picLocks noChangeAspect="1"/>
          </p:cNvPicPr>
          <p:nvPr/>
        </p:nvPicPr>
        <p:blipFill>
          <a:blip r:embed="rId1"/>
          <a:stretch>
            <a:fillRect/>
          </a:stretch>
        </p:blipFill>
        <p:spPr>
          <a:xfrm>
            <a:off x="1020470" y="1980590"/>
            <a:ext cx="427939" cy="427939"/>
          </a:xfrm>
          <a:prstGeom prst="rect">
            <a:avLst/>
          </a:prstGeom>
        </p:spPr>
      </p:pic>
      <p:sp>
        <p:nvSpPr>
          <p:cNvPr id="6" name="Text 3"/>
          <p:cNvSpPr txBox="1"/>
          <p:nvPr/>
        </p:nvSpPr>
        <p:spPr>
          <a:xfrm>
            <a:off x="1874520" y="1645920"/>
            <a:ext cx="3840480" cy="1097280"/>
          </a:xfrm>
          <a:prstGeom prst="rect">
            <a:avLst/>
          </a:prstGeom>
          <a:noFill/>
          <a:ln/>
        </p:spPr>
        <p:txBody>
          <a:bodyPr wrap="square" lIns="0" tIns="0" rIns="0" bIns="0" rtlCol="0" anchor="ctr"/>
          <a:lstStyle/>
          <a:p>
            <a:pPr indent="0" marL="0">
              <a:buNone/>
            </a:pPr>
            <a:r>
              <a:rPr lang="en-US" sz="2000" b="1" dirty="0">
                <a:solidFill>
                  <a:schemeClr val="tx1"/>
                </a:solidFill>
              </a:rPr>
              <a:t>Qui est absent aujourd'hui… et qui l'a approuvé ?</a:t>
            </a:r>
            <a:endParaRPr lang="en-US" sz="2000" dirty="0"/>
          </a:p>
        </p:txBody>
      </p:sp>
      <p:sp>
        <p:nvSpPr>
          <p:cNvPr id="7" name="card"/>
          <p:cNvSpPr/>
          <p:nvPr/>
        </p:nvSpPr>
        <p:spPr>
          <a:xfrm>
            <a:off x="6217920" y="1463040"/>
            <a:ext cx="5394960" cy="1463040"/>
          </a:xfrm>
          <a:prstGeom prst="roundRect">
            <a:avLst>
              <a:gd name="adj" fmla="val 7500"/>
            </a:avLst>
          </a:prstGeom>
          <a:solidFill>
            <a:schemeClr val="bg2"/>
          </a:solidFill>
          <a:ln/>
        </p:spPr>
      </p:sp>
      <p:sp>
        <p:nvSpPr>
          <p:cNvPr id="8" name="icon-circle"/>
          <p:cNvSpPr/>
          <p:nvPr/>
        </p:nvSpPr>
        <p:spPr>
          <a:xfrm>
            <a:off x="6492240" y="1783080"/>
            <a:ext cx="822960" cy="822960"/>
          </a:xfrm>
          <a:prstGeom prst="ellipse">
            <a:avLst/>
          </a:prstGeom>
          <a:solidFill>
            <a:srgbClr val="3F6FB0"/>
          </a:solidFill>
          <a:ln/>
        </p:spPr>
      </p:sp>
      <p:pic>
        <p:nvPicPr>
          <p:cNvPr id="9" name="icon LuMegaphone" descr="preencoded.png">    </p:cNvPr>
          <p:cNvPicPr>
            <a:picLocks noChangeAspect="1"/>
          </p:cNvPicPr>
          <p:nvPr/>
        </p:nvPicPr>
        <p:blipFill>
          <a:blip r:embed="rId2"/>
          <a:stretch>
            <a:fillRect/>
          </a:stretch>
        </p:blipFill>
        <p:spPr>
          <a:xfrm>
            <a:off x="6689750" y="1980590"/>
            <a:ext cx="427939" cy="427939"/>
          </a:xfrm>
          <a:prstGeom prst="rect">
            <a:avLst/>
          </a:prstGeom>
        </p:spPr>
      </p:pic>
      <p:sp>
        <p:nvSpPr>
          <p:cNvPr id="10" name="Text 6"/>
          <p:cNvSpPr txBox="1"/>
          <p:nvPr/>
        </p:nvSpPr>
        <p:spPr>
          <a:xfrm>
            <a:off x="7543800" y="1645920"/>
            <a:ext cx="3840480" cy="1097280"/>
          </a:xfrm>
          <a:prstGeom prst="rect">
            <a:avLst/>
          </a:prstGeom>
          <a:noFill/>
          <a:ln/>
        </p:spPr>
        <p:txBody>
          <a:bodyPr wrap="square" lIns="0" tIns="0" rIns="0" bIns="0" rtlCol="0" anchor="ctr"/>
          <a:lstStyle/>
          <a:p>
            <a:pPr indent="0" marL="0">
              <a:buNone/>
            </a:pPr>
            <a:r>
              <a:rPr lang="en-US" sz="2000" b="1" dirty="0">
                <a:solidFill>
                  <a:schemeClr val="tx1"/>
                </a:solidFill>
              </a:rPr>
              <a:t>Est-ce que tout le monde a bien reçu l'information ?</a:t>
            </a:r>
            <a:endParaRPr lang="en-US" sz="2000" dirty="0"/>
          </a:p>
        </p:txBody>
      </p:sp>
      <p:sp>
        <p:nvSpPr>
          <p:cNvPr id="11" name="card"/>
          <p:cNvSpPr/>
          <p:nvPr/>
        </p:nvSpPr>
        <p:spPr>
          <a:xfrm>
            <a:off x="548640" y="3154680"/>
            <a:ext cx="5394960" cy="1463040"/>
          </a:xfrm>
          <a:prstGeom prst="roundRect">
            <a:avLst>
              <a:gd name="adj" fmla="val 7500"/>
            </a:avLst>
          </a:prstGeom>
          <a:solidFill>
            <a:schemeClr val="bg2"/>
          </a:solidFill>
          <a:ln/>
        </p:spPr>
      </p:sp>
      <p:sp>
        <p:nvSpPr>
          <p:cNvPr id="12" name="icon-circle"/>
          <p:cNvSpPr/>
          <p:nvPr/>
        </p:nvSpPr>
        <p:spPr>
          <a:xfrm>
            <a:off x="822960" y="3474720"/>
            <a:ext cx="822960" cy="822960"/>
          </a:xfrm>
          <a:prstGeom prst="ellipse">
            <a:avLst/>
          </a:prstGeom>
          <a:solidFill>
            <a:srgbClr val="C9542C"/>
          </a:solidFill>
          <a:ln/>
        </p:spPr>
      </p:sp>
      <p:pic>
        <p:nvPicPr>
          <p:cNvPr id="13" name="icon LuFlag" descr="preencoded.png">    </p:cNvPr>
          <p:cNvPicPr>
            <a:picLocks noChangeAspect="1"/>
          </p:cNvPicPr>
          <p:nvPr/>
        </p:nvPicPr>
        <p:blipFill>
          <a:blip r:embed="rId3"/>
          <a:stretch>
            <a:fillRect/>
          </a:stretch>
        </p:blipFill>
        <p:spPr>
          <a:xfrm>
            <a:off x="1020470" y="3672230"/>
            <a:ext cx="427939" cy="427939"/>
          </a:xfrm>
          <a:prstGeom prst="rect">
            <a:avLst/>
          </a:prstGeom>
        </p:spPr>
      </p:pic>
      <p:sp>
        <p:nvSpPr>
          <p:cNvPr id="14" name="Text 9"/>
          <p:cNvSpPr txBox="1"/>
          <p:nvPr/>
        </p:nvSpPr>
        <p:spPr>
          <a:xfrm>
            <a:off x="1874520" y="3337560"/>
            <a:ext cx="3840480" cy="1097280"/>
          </a:xfrm>
          <a:prstGeom prst="rect">
            <a:avLst/>
          </a:prstGeom>
          <a:noFill/>
          <a:ln/>
        </p:spPr>
        <p:txBody>
          <a:bodyPr wrap="square" lIns="0" tIns="0" rIns="0" bIns="0" rtlCol="0" anchor="ctr"/>
          <a:lstStyle/>
          <a:p>
            <a:pPr indent="0" marL="0">
              <a:buNone/>
            </a:pPr>
            <a:r>
              <a:rPr lang="en-US" sz="2000" b="1" dirty="0">
                <a:solidFill>
                  <a:schemeClr val="tx1"/>
                </a:solidFill>
              </a:rPr>
              <a:t>Qu'est-ce qui ne va pas sur le plancher… avant que ça explose ?</a:t>
            </a:r>
            <a:endParaRPr lang="en-US" sz="2000" dirty="0"/>
          </a:p>
        </p:txBody>
      </p:sp>
      <p:sp>
        <p:nvSpPr>
          <p:cNvPr id="15" name="card"/>
          <p:cNvSpPr/>
          <p:nvPr/>
        </p:nvSpPr>
        <p:spPr>
          <a:xfrm>
            <a:off x="6217920" y="3154680"/>
            <a:ext cx="5394960" cy="1463040"/>
          </a:xfrm>
          <a:prstGeom prst="roundRect">
            <a:avLst>
              <a:gd name="adj" fmla="val 7500"/>
            </a:avLst>
          </a:prstGeom>
          <a:solidFill>
            <a:schemeClr val="bg2"/>
          </a:solidFill>
          <a:ln/>
        </p:spPr>
      </p:sp>
      <p:sp>
        <p:nvSpPr>
          <p:cNvPr id="16" name="icon-circle"/>
          <p:cNvSpPr/>
          <p:nvPr/>
        </p:nvSpPr>
        <p:spPr>
          <a:xfrm>
            <a:off x="6492240" y="3474720"/>
            <a:ext cx="822960" cy="822960"/>
          </a:xfrm>
          <a:prstGeom prst="ellipse">
            <a:avLst/>
          </a:prstGeom>
          <a:solidFill>
            <a:srgbClr val="8B6BC9"/>
          </a:solidFill>
          <a:ln/>
        </p:spPr>
      </p:sp>
      <p:pic>
        <p:nvPicPr>
          <p:cNvPr id="17" name="icon LuDoorOpen" descr="preencoded.png">    </p:cNvPr>
          <p:cNvPicPr>
            <a:picLocks noChangeAspect="1"/>
          </p:cNvPicPr>
          <p:nvPr/>
        </p:nvPicPr>
        <p:blipFill>
          <a:blip r:embed="rId4"/>
          <a:stretch>
            <a:fillRect/>
          </a:stretch>
        </p:blipFill>
        <p:spPr>
          <a:xfrm>
            <a:off x="6689750" y="3672230"/>
            <a:ext cx="427939" cy="427939"/>
          </a:xfrm>
          <a:prstGeom prst="rect">
            <a:avLst/>
          </a:prstGeom>
        </p:spPr>
      </p:pic>
      <p:sp>
        <p:nvSpPr>
          <p:cNvPr id="18" name="Text 12"/>
          <p:cNvSpPr txBox="1"/>
          <p:nvPr/>
        </p:nvSpPr>
        <p:spPr>
          <a:xfrm>
            <a:off x="7543800" y="3337560"/>
            <a:ext cx="3840480" cy="1097280"/>
          </a:xfrm>
          <a:prstGeom prst="rect">
            <a:avLst/>
          </a:prstGeom>
          <a:noFill/>
          <a:ln/>
        </p:spPr>
        <p:txBody>
          <a:bodyPr wrap="square" lIns="0" tIns="0" rIns="0" bIns="0" rtlCol="0" anchor="ctr"/>
          <a:lstStyle/>
          <a:p>
            <a:pPr indent="0" marL="0">
              <a:buNone/>
            </a:pPr>
            <a:r>
              <a:rPr lang="en-US" sz="2000" b="1" dirty="0">
                <a:solidFill>
                  <a:schemeClr val="tx1"/>
                </a:solidFill>
              </a:rPr>
              <a:t>Pourquoi nos bons employés s'en vont-ils ?</a:t>
            </a:r>
            <a:endParaRPr lang="en-US" sz="2000" dirty="0"/>
          </a:p>
        </p:txBody>
      </p:sp>
      <p:sp>
        <p:nvSpPr>
          <p:cNvPr id="19" name="Text 13"/>
          <p:cNvSpPr txBox="1"/>
          <p:nvPr/>
        </p:nvSpPr>
        <p:spPr>
          <a:xfrm>
            <a:off x="548640" y="4983480"/>
            <a:ext cx="11064240" cy="822960"/>
          </a:xfrm>
          <a:prstGeom prst="rect">
            <a:avLst/>
          </a:prstGeom>
          <a:noFill/>
          <a:ln/>
        </p:spPr>
        <p:txBody>
          <a:bodyPr wrap="square" lIns="0" tIns="0" rIns="0" bIns="0" rtlCol="0" anchor="ctr"/>
          <a:lstStyle/>
          <a:p>
            <a:pPr indent="0" marL="0">
              <a:buNone/>
            </a:pPr>
            <a:r>
              <a:rPr lang="en-US" sz="1800" i="1" dirty="0">
                <a:solidFill>
                  <a:srgbClr val="5B6478"/>
                </a:solidFill>
              </a:rPr>
              <a:t>Aujourd'hui, les réponses sont éparpillées : textos, courriels, papiers sur le babillard… et la mémoire de quelques personnes.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400" b="1" spc="200" kern="0" dirty="0">
                <a:solidFill>
                  <a:srgbClr val="E0A43A"/>
                </a:solidFill>
              </a:rPr>
              <a:t>LA RÉPONSE</a:t>
            </a:r>
            <a:endParaRPr lang="en-US" sz="1400" dirty="0"/>
          </a:p>
        </p:txBody>
      </p:sp>
      <p:sp>
        <p:nvSpPr>
          <p:cNvPr id="3" name="Text 1"/>
          <p:cNvSpPr txBox="1"/>
          <p:nvPr/>
        </p:nvSpPr>
        <p:spPr>
          <a:xfrm>
            <a:off x="731520" y="1234440"/>
            <a:ext cx="10515600" cy="17373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Un seul endroit.</a:t>
            </a:r>
            <a:endParaRPr lang="en-US" sz="4400" dirty="0"/>
          </a:p>
          <a:p>
            <a:pPr indent="0" marL="0">
              <a:buNone/>
            </a:pPr>
            <a:r>
              <a:rPr lang="en-US" sz="4400" b="1" dirty="0">
                <a:solidFill>
                  <a:schemeClr val="bg1"/>
                </a:solidFill>
                <a:latin typeface="Cambria" pitchFamily="34" charset="0"/>
                <a:ea typeface="Cambria" pitchFamily="34" charset="-122"/>
                <a:cs typeface="Cambria" pitchFamily="34" charset="-120"/>
              </a:rPr>
              <a:t>Dans la poche de chaque employé.</a:t>
            </a:r>
            <a:endParaRPr lang="en-US" sz="4400" dirty="0"/>
          </a:p>
        </p:txBody>
      </p:sp>
      <p:sp>
        <p:nvSpPr>
          <p:cNvPr id="4" name="module"/>
          <p:cNvSpPr/>
          <p:nvPr/>
        </p:nvSpPr>
        <p:spPr>
          <a:xfrm>
            <a:off x="731520" y="3291840"/>
            <a:ext cx="2514600" cy="1005840"/>
          </a:xfrm>
          <a:prstGeom prst="roundRect">
            <a:avLst>
              <a:gd name="adj" fmla="val 10909"/>
            </a:avLst>
          </a:prstGeom>
          <a:solidFill>
            <a:srgbClr val="26304A"/>
          </a:solidFill>
          <a:ln/>
        </p:spPr>
      </p:sp>
      <p:pic>
        <p:nvPicPr>
          <p:cNvPr id="5" name="icon" descr="preencoded.png">    </p:cNvPr>
          <p:cNvPicPr>
            <a:picLocks noChangeAspect="1"/>
          </p:cNvPicPr>
          <p:nvPr/>
        </p:nvPicPr>
        <p:blipFill>
          <a:blip r:embed="rId1"/>
          <a:stretch>
            <a:fillRect/>
          </a:stretch>
        </p:blipFill>
        <p:spPr>
          <a:xfrm>
            <a:off x="960120" y="3566160"/>
            <a:ext cx="457200" cy="457200"/>
          </a:xfrm>
          <a:prstGeom prst="rect">
            <a:avLst/>
          </a:prstGeom>
        </p:spPr>
      </p:pic>
      <p:sp>
        <p:nvSpPr>
          <p:cNvPr id="6" name="Text 3"/>
          <p:cNvSpPr txBox="1"/>
          <p:nvPr/>
        </p:nvSpPr>
        <p:spPr>
          <a:xfrm>
            <a:off x="1554480" y="329184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Absences &amp; congés</a:t>
            </a:r>
            <a:endParaRPr lang="en-US" sz="1600" dirty="0"/>
          </a:p>
        </p:txBody>
      </p:sp>
      <p:sp>
        <p:nvSpPr>
          <p:cNvPr id="7" name="module"/>
          <p:cNvSpPr/>
          <p:nvPr/>
        </p:nvSpPr>
        <p:spPr>
          <a:xfrm>
            <a:off x="3456432" y="3291840"/>
            <a:ext cx="2514600" cy="1005840"/>
          </a:xfrm>
          <a:prstGeom prst="roundRect">
            <a:avLst>
              <a:gd name="adj" fmla="val 10909"/>
            </a:avLst>
          </a:prstGeom>
          <a:solidFill>
            <a:srgbClr val="26304A"/>
          </a:solidFill>
          <a:ln/>
        </p:spPr>
      </p:sp>
      <p:pic>
        <p:nvPicPr>
          <p:cNvPr id="8" name="icon" descr="preencoded.png">    </p:cNvPr>
          <p:cNvPicPr>
            <a:picLocks noChangeAspect="1"/>
          </p:cNvPicPr>
          <p:nvPr/>
        </p:nvPicPr>
        <p:blipFill>
          <a:blip r:embed="rId2"/>
          <a:stretch>
            <a:fillRect/>
          </a:stretch>
        </p:blipFill>
        <p:spPr>
          <a:xfrm>
            <a:off x="3685032" y="3566160"/>
            <a:ext cx="457200" cy="457200"/>
          </a:xfrm>
          <a:prstGeom prst="rect">
            <a:avLst/>
          </a:prstGeom>
        </p:spPr>
      </p:pic>
      <p:sp>
        <p:nvSpPr>
          <p:cNvPr id="9" name="Text 5"/>
          <p:cNvSpPr txBox="1"/>
          <p:nvPr/>
        </p:nvSpPr>
        <p:spPr>
          <a:xfrm>
            <a:off x="4279392" y="329184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Annonces</a:t>
            </a:r>
            <a:endParaRPr lang="en-US" sz="1600" dirty="0"/>
          </a:p>
        </p:txBody>
      </p:sp>
      <p:sp>
        <p:nvSpPr>
          <p:cNvPr id="10" name="module"/>
          <p:cNvSpPr/>
          <p:nvPr/>
        </p:nvSpPr>
        <p:spPr>
          <a:xfrm>
            <a:off x="6181344" y="3291840"/>
            <a:ext cx="2514600" cy="1005840"/>
          </a:xfrm>
          <a:prstGeom prst="roundRect">
            <a:avLst>
              <a:gd name="adj" fmla="val 10909"/>
            </a:avLst>
          </a:prstGeom>
          <a:solidFill>
            <a:srgbClr val="26304A"/>
          </a:solidFill>
          <a:ln/>
        </p:spPr>
      </p:sp>
      <p:pic>
        <p:nvPicPr>
          <p:cNvPr id="11" name="icon" descr="preencoded.png">    </p:cNvPr>
          <p:cNvPicPr>
            <a:picLocks noChangeAspect="1"/>
          </p:cNvPicPr>
          <p:nvPr/>
        </p:nvPicPr>
        <p:blipFill>
          <a:blip r:embed="rId3"/>
          <a:stretch>
            <a:fillRect/>
          </a:stretch>
        </p:blipFill>
        <p:spPr>
          <a:xfrm>
            <a:off x="6409944" y="3566160"/>
            <a:ext cx="457200" cy="457200"/>
          </a:xfrm>
          <a:prstGeom prst="rect">
            <a:avLst/>
          </a:prstGeom>
        </p:spPr>
      </p:pic>
      <p:sp>
        <p:nvSpPr>
          <p:cNvPr id="12" name="Text 7"/>
          <p:cNvSpPr txBox="1"/>
          <p:nvPr/>
        </p:nvSpPr>
        <p:spPr>
          <a:xfrm>
            <a:off x="7004304" y="329184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Documents</a:t>
            </a:r>
            <a:endParaRPr lang="en-US" sz="1600" dirty="0"/>
          </a:p>
        </p:txBody>
      </p:sp>
      <p:sp>
        <p:nvSpPr>
          <p:cNvPr id="13" name="module"/>
          <p:cNvSpPr/>
          <p:nvPr/>
        </p:nvSpPr>
        <p:spPr>
          <a:xfrm>
            <a:off x="8906256" y="3291840"/>
            <a:ext cx="2514600" cy="1005840"/>
          </a:xfrm>
          <a:prstGeom prst="roundRect">
            <a:avLst>
              <a:gd name="adj" fmla="val 10909"/>
            </a:avLst>
          </a:prstGeom>
          <a:solidFill>
            <a:srgbClr val="26304A"/>
          </a:solidFill>
          <a:ln/>
        </p:spPr>
      </p:sp>
      <p:pic>
        <p:nvPicPr>
          <p:cNvPr id="14" name="icon" descr="preencoded.png">    </p:cNvPr>
          <p:cNvPicPr>
            <a:picLocks noChangeAspect="1"/>
          </p:cNvPicPr>
          <p:nvPr/>
        </p:nvPicPr>
        <p:blipFill>
          <a:blip r:embed="rId4"/>
          <a:stretch>
            <a:fillRect/>
          </a:stretch>
        </p:blipFill>
        <p:spPr>
          <a:xfrm>
            <a:off x="9134856" y="3566160"/>
            <a:ext cx="457200" cy="457200"/>
          </a:xfrm>
          <a:prstGeom prst="rect">
            <a:avLst/>
          </a:prstGeom>
        </p:spPr>
      </p:pic>
      <p:sp>
        <p:nvSpPr>
          <p:cNvPr id="15" name="Text 9"/>
          <p:cNvSpPr txBox="1"/>
          <p:nvPr/>
        </p:nvSpPr>
        <p:spPr>
          <a:xfrm>
            <a:off x="9729216" y="329184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Messages</a:t>
            </a:r>
            <a:endParaRPr lang="en-US" sz="1600" dirty="0"/>
          </a:p>
        </p:txBody>
      </p:sp>
      <p:sp>
        <p:nvSpPr>
          <p:cNvPr id="16" name="module"/>
          <p:cNvSpPr/>
          <p:nvPr/>
        </p:nvSpPr>
        <p:spPr>
          <a:xfrm>
            <a:off x="731520" y="4526280"/>
            <a:ext cx="2514600" cy="1005840"/>
          </a:xfrm>
          <a:prstGeom prst="roundRect">
            <a:avLst>
              <a:gd name="adj" fmla="val 10909"/>
            </a:avLst>
          </a:prstGeom>
          <a:solidFill>
            <a:srgbClr val="26304A"/>
          </a:solidFill>
          <a:ln/>
        </p:spPr>
      </p:sp>
      <p:pic>
        <p:nvPicPr>
          <p:cNvPr id="17" name="icon" descr="preencoded.png">    </p:cNvPr>
          <p:cNvPicPr>
            <a:picLocks noChangeAspect="1"/>
          </p:cNvPicPr>
          <p:nvPr/>
        </p:nvPicPr>
        <p:blipFill>
          <a:blip r:embed="rId5"/>
          <a:stretch>
            <a:fillRect/>
          </a:stretch>
        </p:blipFill>
        <p:spPr>
          <a:xfrm>
            <a:off x="960120" y="4800600"/>
            <a:ext cx="457200" cy="457200"/>
          </a:xfrm>
          <a:prstGeom prst="rect">
            <a:avLst/>
          </a:prstGeom>
        </p:spPr>
      </p:pic>
      <p:sp>
        <p:nvSpPr>
          <p:cNvPr id="18" name="Text 11"/>
          <p:cNvSpPr txBox="1"/>
          <p:nvPr/>
        </p:nvSpPr>
        <p:spPr>
          <a:xfrm>
            <a:off x="1554480" y="452628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Signalements</a:t>
            </a:r>
            <a:endParaRPr lang="en-US" sz="1600" dirty="0"/>
          </a:p>
        </p:txBody>
      </p:sp>
      <p:sp>
        <p:nvSpPr>
          <p:cNvPr id="19" name="module"/>
          <p:cNvSpPr/>
          <p:nvPr/>
        </p:nvSpPr>
        <p:spPr>
          <a:xfrm>
            <a:off x="3456432" y="4526280"/>
            <a:ext cx="2514600" cy="1005840"/>
          </a:xfrm>
          <a:prstGeom prst="roundRect">
            <a:avLst>
              <a:gd name="adj" fmla="val 10909"/>
            </a:avLst>
          </a:prstGeom>
          <a:solidFill>
            <a:srgbClr val="26304A"/>
          </a:solidFill>
          <a:ln/>
        </p:spPr>
      </p:sp>
      <p:pic>
        <p:nvPicPr>
          <p:cNvPr id="20" name="icon" descr="preencoded.png">    </p:cNvPr>
          <p:cNvPicPr>
            <a:picLocks noChangeAspect="1"/>
          </p:cNvPicPr>
          <p:nvPr/>
        </p:nvPicPr>
        <p:blipFill>
          <a:blip r:embed="rId6"/>
          <a:stretch>
            <a:fillRect/>
          </a:stretch>
        </p:blipFill>
        <p:spPr>
          <a:xfrm>
            <a:off x="3685032" y="4800600"/>
            <a:ext cx="457200" cy="457200"/>
          </a:xfrm>
          <a:prstGeom prst="rect">
            <a:avLst/>
          </a:prstGeom>
        </p:spPr>
      </p:pic>
      <p:sp>
        <p:nvSpPr>
          <p:cNvPr id="21" name="Text 13"/>
          <p:cNvSpPr txBox="1"/>
          <p:nvPr/>
        </p:nvSpPr>
        <p:spPr>
          <a:xfrm>
            <a:off x="4279392" y="452628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Sondages</a:t>
            </a:r>
            <a:endParaRPr lang="en-US" sz="1600" dirty="0"/>
          </a:p>
        </p:txBody>
      </p:sp>
      <p:sp>
        <p:nvSpPr>
          <p:cNvPr id="22" name="module"/>
          <p:cNvSpPr/>
          <p:nvPr/>
        </p:nvSpPr>
        <p:spPr>
          <a:xfrm>
            <a:off x="6181344" y="4526280"/>
            <a:ext cx="2514600" cy="1005840"/>
          </a:xfrm>
          <a:prstGeom prst="roundRect">
            <a:avLst>
              <a:gd name="adj" fmla="val 10909"/>
            </a:avLst>
          </a:prstGeom>
          <a:solidFill>
            <a:srgbClr val="26304A"/>
          </a:solidFill>
          <a:ln/>
        </p:spPr>
      </p:sp>
      <p:pic>
        <p:nvPicPr>
          <p:cNvPr id="23" name="icon" descr="preencoded.png">    </p:cNvPr>
          <p:cNvPicPr>
            <a:picLocks noChangeAspect="1"/>
          </p:cNvPicPr>
          <p:nvPr/>
        </p:nvPicPr>
        <p:blipFill>
          <a:blip r:embed="rId7"/>
          <a:stretch>
            <a:fillRect/>
          </a:stretch>
        </p:blipFill>
        <p:spPr>
          <a:xfrm>
            <a:off x="6409944" y="4800600"/>
            <a:ext cx="457200" cy="457200"/>
          </a:xfrm>
          <a:prstGeom prst="rect">
            <a:avLst/>
          </a:prstGeom>
        </p:spPr>
      </p:pic>
      <p:sp>
        <p:nvSpPr>
          <p:cNvPr id="24" name="Text 15"/>
          <p:cNvSpPr txBox="1"/>
          <p:nvPr/>
        </p:nvSpPr>
        <p:spPr>
          <a:xfrm>
            <a:off x="7004304" y="452628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Départements</a:t>
            </a:r>
            <a:endParaRPr lang="en-US" sz="1600" dirty="0"/>
          </a:p>
        </p:txBody>
      </p:sp>
      <p:sp>
        <p:nvSpPr>
          <p:cNvPr id="25" name="module"/>
          <p:cNvSpPr/>
          <p:nvPr/>
        </p:nvSpPr>
        <p:spPr>
          <a:xfrm>
            <a:off x="8906256" y="4526280"/>
            <a:ext cx="2514600" cy="1005840"/>
          </a:xfrm>
          <a:prstGeom prst="roundRect">
            <a:avLst>
              <a:gd name="adj" fmla="val 10909"/>
            </a:avLst>
          </a:prstGeom>
          <a:solidFill>
            <a:srgbClr val="26304A"/>
          </a:solidFill>
          <a:ln/>
        </p:spPr>
      </p:sp>
      <p:pic>
        <p:nvPicPr>
          <p:cNvPr id="26" name="icon" descr="preencoded.png">    </p:cNvPr>
          <p:cNvPicPr>
            <a:picLocks noChangeAspect="1"/>
          </p:cNvPicPr>
          <p:nvPr/>
        </p:nvPicPr>
        <p:blipFill>
          <a:blip r:embed="rId8"/>
          <a:stretch>
            <a:fillRect/>
          </a:stretch>
        </p:blipFill>
        <p:spPr>
          <a:xfrm>
            <a:off x="9134856" y="4800600"/>
            <a:ext cx="457200" cy="457200"/>
          </a:xfrm>
          <a:prstGeom prst="rect">
            <a:avLst/>
          </a:prstGeom>
        </p:spPr>
      </p:pic>
      <p:sp>
        <p:nvSpPr>
          <p:cNvPr id="27" name="Text 17"/>
          <p:cNvSpPr txBox="1"/>
          <p:nvPr/>
        </p:nvSpPr>
        <p:spPr>
          <a:xfrm>
            <a:off x="9729216" y="4526280"/>
            <a:ext cx="1600200" cy="1005840"/>
          </a:xfrm>
          <a:prstGeom prst="rect">
            <a:avLst/>
          </a:prstGeom>
          <a:noFill/>
          <a:ln/>
        </p:spPr>
        <p:txBody>
          <a:bodyPr wrap="square" lIns="0" tIns="0" rIns="0" bIns="0" rtlCol="0" anchor="ctr"/>
          <a:lstStyle/>
          <a:p>
            <a:pPr indent="0" marL="0">
              <a:buNone/>
            </a:pPr>
            <a:r>
              <a:rPr lang="en-US" sz="1600" b="1" dirty="0">
                <a:solidFill>
                  <a:schemeClr val="bg1"/>
                </a:solidFill>
              </a:rPr>
              <a:t>Rétention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Pour l'employé : aussi simple qu'un texto</a:t>
            </a:r>
            <a:endParaRPr lang="en-US" sz="3200" dirty="0"/>
          </a:p>
        </p:txBody>
      </p:sp>
      <p:sp>
        <p:nvSpPr>
          <p:cNvPr id="3" name="phone"/>
          <p:cNvSpPr/>
          <p:nvPr/>
        </p:nvSpPr>
        <p:spPr>
          <a:xfrm>
            <a:off x="822960" y="1417320"/>
            <a:ext cx="2834640" cy="4663440"/>
          </a:xfrm>
          <a:prstGeom prst="roundRect">
            <a:avLst>
              <a:gd name="adj" fmla="val 11290"/>
            </a:avLst>
          </a:prstGeom>
          <a:solidFill>
            <a:schemeClr val="tx1"/>
          </a:solidFill>
          <a:ln/>
          <a:effectLst>
            <a:outerShdw sx="100000" sy="100000" kx="0" ky="0" algn="bl" rotWithShape="0" blurRad="101600" dist="25400" dir="5400000">
              <a:srgbClr val="1C2438">
                <a:alpha val="12000"/>
              </a:srgbClr>
            </a:outerShdw>
          </a:effectLst>
        </p:spPr>
      </p:sp>
      <p:sp>
        <p:nvSpPr>
          <p:cNvPr id="4" name="phone-screen"/>
          <p:cNvSpPr/>
          <p:nvPr/>
        </p:nvSpPr>
        <p:spPr>
          <a:xfrm>
            <a:off x="960120" y="1600200"/>
            <a:ext cx="2560320" cy="4297680"/>
          </a:xfrm>
          <a:prstGeom prst="roundRect">
            <a:avLst>
              <a:gd name="adj" fmla="val 7857"/>
            </a:avLst>
          </a:prstGeom>
          <a:solidFill>
            <a:schemeClr val="bg1"/>
          </a:solidFill>
          <a:ln/>
        </p:spPr>
      </p:sp>
      <p:sp>
        <p:nvSpPr>
          <p:cNvPr id="5" name="Text 3"/>
          <p:cNvSpPr txBox="1"/>
          <p:nvPr/>
        </p:nvSpPr>
        <p:spPr>
          <a:xfrm>
            <a:off x="1143000" y="1783080"/>
            <a:ext cx="2194560" cy="36576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Demander une absence</a:t>
            </a:r>
            <a:endParaRPr lang="en-US" sz="1400" dirty="0"/>
          </a:p>
        </p:txBody>
      </p:sp>
      <p:sp>
        <p:nvSpPr>
          <p:cNvPr id="6" name="field"/>
          <p:cNvSpPr/>
          <p:nvPr/>
        </p:nvSpPr>
        <p:spPr>
          <a:xfrm>
            <a:off x="1143000" y="2240280"/>
            <a:ext cx="2194560" cy="411480"/>
          </a:xfrm>
          <a:prstGeom prst="roundRect">
            <a:avLst>
              <a:gd name="adj" fmla="val 13333"/>
            </a:avLst>
          </a:prstGeom>
          <a:solidFill>
            <a:srgbClr val="F3F5F8"/>
          </a:solidFill>
          <a:ln w="9525">
            <a:solidFill>
              <a:srgbClr val="DADEE5"/>
            </a:solidFill>
            <a:prstDash val="solid"/>
          </a:ln>
        </p:spPr>
      </p:sp>
      <p:sp>
        <p:nvSpPr>
          <p:cNvPr id="7" name="Text 5"/>
          <p:cNvSpPr txBox="1"/>
          <p:nvPr/>
        </p:nvSpPr>
        <p:spPr>
          <a:xfrm>
            <a:off x="1280160" y="2240280"/>
            <a:ext cx="2011680" cy="411480"/>
          </a:xfrm>
          <a:prstGeom prst="rect">
            <a:avLst/>
          </a:prstGeom>
          <a:noFill/>
          <a:ln/>
        </p:spPr>
        <p:txBody>
          <a:bodyPr wrap="square" lIns="0" tIns="0" rIns="0" bIns="0" rtlCol="0" anchor="ctr"/>
          <a:lstStyle/>
          <a:p>
            <a:pPr indent="0" marL="0">
              <a:buNone/>
            </a:pPr>
            <a:r>
              <a:rPr lang="en-US" sz="1200" dirty="0">
                <a:solidFill>
                  <a:schemeClr val="tx1"/>
                </a:solidFill>
              </a:rPr>
              <a:t>Vacances</a:t>
            </a:r>
            <a:endParaRPr lang="en-US" sz="1200" dirty="0"/>
          </a:p>
        </p:txBody>
      </p:sp>
      <p:sp>
        <p:nvSpPr>
          <p:cNvPr id="8" name="Text 6"/>
          <p:cNvSpPr txBox="1"/>
          <p:nvPr/>
        </p:nvSpPr>
        <p:spPr>
          <a:xfrm>
            <a:off x="1143000" y="2697480"/>
            <a:ext cx="2194560" cy="320040"/>
          </a:xfrm>
          <a:prstGeom prst="rect">
            <a:avLst/>
          </a:prstGeom>
          <a:noFill/>
          <a:ln/>
        </p:spPr>
        <p:txBody>
          <a:bodyPr wrap="square" lIns="0" tIns="0" rIns="0" bIns="0" rtlCol="0" anchor="ctr"/>
          <a:lstStyle/>
          <a:p>
            <a:pPr indent="0" marL="0">
              <a:buNone/>
            </a:pPr>
            <a:r>
              <a:rPr lang="en-US" sz="1200" b="1" dirty="0">
                <a:solidFill>
                  <a:schemeClr val="accent1"/>
                </a:solidFill>
              </a:rPr>
              <a:t>Il te reste 8 jours.</a:t>
            </a:r>
            <a:endParaRPr lang="en-US" sz="1200" dirty="0"/>
          </a:p>
        </p:txBody>
      </p:sp>
      <p:sp>
        <p:nvSpPr>
          <p:cNvPr id="9" name="field"/>
          <p:cNvSpPr/>
          <p:nvPr/>
        </p:nvSpPr>
        <p:spPr>
          <a:xfrm>
            <a:off x="1143000" y="3108960"/>
            <a:ext cx="1051560" cy="411480"/>
          </a:xfrm>
          <a:prstGeom prst="roundRect">
            <a:avLst>
              <a:gd name="adj" fmla="val 13333"/>
            </a:avLst>
          </a:prstGeom>
          <a:solidFill>
            <a:srgbClr val="F3F5F8"/>
          </a:solidFill>
          <a:ln w="9525">
            <a:solidFill>
              <a:srgbClr val="DADEE5"/>
            </a:solidFill>
            <a:prstDash val="solid"/>
          </a:ln>
        </p:spPr>
      </p:sp>
      <p:sp>
        <p:nvSpPr>
          <p:cNvPr id="10" name="field"/>
          <p:cNvSpPr/>
          <p:nvPr/>
        </p:nvSpPr>
        <p:spPr>
          <a:xfrm>
            <a:off x="2286000" y="3108960"/>
            <a:ext cx="1051560" cy="411480"/>
          </a:xfrm>
          <a:prstGeom prst="roundRect">
            <a:avLst>
              <a:gd name="adj" fmla="val 13333"/>
            </a:avLst>
          </a:prstGeom>
          <a:solidFill>
            <a:srgbClr val="F3F5F8"/>
          </a:solidFill>
          <a:ln w="9525">
            <a:solidFill>
              <a:srgbClr val="DADEE5"/>
            </a:solidFill>
            <a:prstDash val="solid"/>
          </a:ln>
        </p:spPr>
      </p:sp>
      <p:sp>
        <p:nvSpPr>
          <p:cNvPr id="11" name="Text 9"/>
          <p:cNvSpPr txBox="1"/>
          <p:nvPr/>
        </p:nvSpPr>
        <p:spPr>
          <a:xfrm>
            <a:off x="1143000" y="3108960"/>
            <a:ext cx="1051560" cy="411480"/>
          </a:xfrm>
          <a:prstGeom prst="rect">
            <a:avLst/>
          </a:prstGeom>
          <a:noFill/>
          <a:ln/>
        </p:spPr>
        <p:txBody>
          <a:bodyPr wrap="square" lIns="0" tIns="0" rIns="0" bIns="0" rtlCol="0" anchor="ctr"/>
          <a:lstStyle/>
          <a:p>
            <a:pPr algn="ctr" indent="0" marL="0">
              <a:buNone/>
            </a:pPr>
            <a:r>
              <a:rPr lang="en-US" sz="1100" dirty="0">
                <a:solidFill>
                  <a:schemeClr val="tx1"/>
                </a:solidFill>
              </a:rPr>
              <a:t>12 oct.</a:t>
            </a:r>
            <a:endParaRPr lang="en-US" sz="1100" dirty="0"/>
          </a:p>
        </p:txBody>
      </p:sp>
      <p:sp>
        <p:nvSpPr>
          <p:cNvPr id="12" name="Text 10"/>
          <p:cNvSpPr txBox="1"/>
          <p:nvPr/>
        </p:nvSpPr>
        <p:spPr>
          <a:xfrm>
            <a:off x="2286000" y="3108960"/>
            <a:ext cx="1051560" cy="411480"/>
          </a:xfrm>
          <a:prstGeom prst="rect">
            <a:avLst/>
          </a:prstGeom>
          <a:noFill/>
          <a:ln/>
        </p:spPr>
        <p:txBody>
          <a:bodyPr wrap="square" lIns="0" tIns="0" rIns="0" bIns="0" rtlCol="0" anchor="ctr"/>
          <a:lstStyle/>
          <a:p>
            <a:pPr algn="ctr" indent="0" marL="0">
              <a:buNone/>
            </a:pPr>
            <a:r>
              <a:rPr lang="en-US" sz="1100" dirty="0">
                <a:solidFill>
                  <a:schemeClr val="tx1"/>
                </a:solidFill>
              </a:rPr>
              <a:t>16 oct.</a:t>
            </a:r>
            <a:endParaRPr lang="en-US" sz="1100" dirty="0"/>
          </a:p>
        </p:txBody>
      </p:sp>
      <p:sp>
        <p:nvSpPr>
          <p:cNvPr id="13" name="button"/>
          <p:cNvSpPr/>
          <p:nvPr/>
        </p:nvSpPr>
        <p:spPr>
          <a:xfrm>
            <a:off x="1143000" y="3703320"/>
            <a:ext cx="2194560" cy="457200"/>
          </a:xfrm>
          <a:prstGeom prst="roundRect">
            <a:avLst>
              <a:gd name="adj" fmla="val 16000"/>
            </a:avLst>
          </a:prstGeom>
          <a:solidFill>
            <a:schemeClr val="accent1"/>
          </a:solidFill>
          <a:ln/>
        </p:spPr>
      </p:sp>
      <p:sp>
        <p:nvSpPr>
          <p:cNvPr id="14" name="Text 12"/>
          <p:cNvSpPr txBox="1"/>
          <p:nvPr/>
        </p:nvSpPr>
        <p:spPr>
          <a:xfrm>
            <a:off x="1143000" y="3703320"/>
            <a:ext cx="2194560" cy="457200"/>
          </a:xfrm>
          <a:prstGeom prst="rect">
            <a:avLst/>
          </a:prstGeom>
          <a:noFill/>
          <a:ln/>
        </p:spPr>
        <p:txBody>
          <a:bodyPr wrap="square" lIns="0" tIns="0" rIns="0" bIns="0" rtlCol="0" anchor="ctr"/>
          <a:lstStyle/>
          <a:p>
            <a:pPr algn="ctr" indent="0" marL="0">
              <a:buNone/>
            </a:pPr>
            <a:r>
              <a:rPr lang="en-US" sz="1200" b="1" dirty="0">
                <a:solidFill>
                  <a:schemeClr val="bg1"/>
                </a:solidFill>
              </a:rPr>
              <a:t>Envoyer la demande</a:t>
            </a:r>
            <a:endParaRPr lang="en-US" sz="1200" dirty="0"/>
          </a:p>
        </p:txBody>
      </p:sp>
      <p:sp>
        <p:nvSpPr>
          <p:cNvPr id="15" name="conge"/>
          <p:cNvSpPr/>
          <p:nvPr/>
        </p:nvSpPr>
        <p:spPr>
          <a:xfrm>
            <a:off x="1143000" y="4389120"/>
            <a:ext cx="2194560" cy="1234440"/>
          </a:xfrm>
          <a:prstGeom prst="roundRect">
            <a:avLst>
              <a:gd name="adj" fmla="val 5926"/>
            </a:avLst>
          </a:prstGeom>
          <a:solidFill>
            <a:srgbClr val="FFFBF2"/>
          </a:solidFill>
          <a:ln w="9525">
            <a:solidFill>
              <a:srgbClr val="F0D9A8"/>
            </a:solidFill>
            <a:prstDash val="solid"/>
          </a:ln>
        </p:spPr>
      </p:sp>
      <p:sp>
        <p:nvSpPr>
          <p:cNvPr id="16" name="Text 14"/>
          <p:cNvSpPr txBox="1"/>
          <p:nvPr/>
        </p:nvSpPr>
        <p:spPr>
          <a:xfrm>
            <a:off x="1234440" y="4434840"/>
            <a:ext cx="2011680" cy="1143000"/>
          </a:xfrm>
          <a:prstGeom prst="rect">
            <a:avLst/>
          </a:prstGeom>
          <a:noFill/>
          <a:ln/>
        </p:spPr>
        <p:txBody>
          <a:bodyPr wrap="square" lIns="0" tIns="0" rIns="0" bIns="0" rtlCol="0" anchor="ctr"/>
          <a:lstStyle/>
          <a:p>
            <a:pPr indent="0" marL="0">
              <a:buNone/>
            </a:pPr>
            <a:r>
              <a:rPr lang="en-US" sz="1100" b="1" dirty="0">
                <a:solidFill>
                  <a:schemeClr val="tx1"/>
                </a:solidFill>
              </a:rPr>
              <a:t>Congé : Fermeture des fêtes</a:t>
            </a:r>
            <a:endParaRPr lang="en-US" sz="1100" dirty="0"/>
          </a:p>
          <a:p>
            <a:pPr indent="0" marL="0">
              <a:buNone/>
            </a:pPr>
            <a:r>
              <a:rPr lang="en-US" sz="1100" dirty="0">
                <a:solidFill>
                  <a:srgbClr val="5B6478"/>
                </a:solidFill>
              </a:rPr>
              <a:t>24 déc. dès 13 h → 2 janv.</a:t>
            </a:r>
            <a:endParaRPr lang="en-US" sz="1100" dirty="0"/>
          </a:p>
        </p:txBody>
      </p:sp>
      <p:sp>
        <p:nvSpPr>
          <p:cNvPr id="17" name="icon-circle"/>
          <p:cNvSpPr/>
          <p:nvPr/>
        </p:nvSpPr>
        <p:spPr>
          <a:xfrm>
            <a:off x="4343400" y="1508760"/>
            <a:ext cx="685800" cy="685800"/>
          </a:xfrm>
          <a:prstGeom prst="ellipse">
            <a:avLst/>
          </a:prstGeom>
          <a:solidFill>
            <a:srgbClr val="2F6F5E"/>
          </a:solidFill>
          <a:ln/>
        </p:spPr>
      </p:sp>
      <p:pic>
        <p:nvPicPr>
          <p:cNvPr id="18" name="icon LuCalendarDays" descr="preencoded.png">    </p:cNvPr>
          <p:cNvPicPr>
            <a:picLocks noChangeAspect="1"/>
          </p:cNvPicPr>
          <p:nvPr/>
        </p:nvPicPr>
        <p:blipFill>
          <a:blip r:embed="rId1"/>
          <a:stretch>
            <a:fillRect/>
          </a:stretch>
        </p:blipFill>
        <p:spPr>
          <a:xfrm>
            <a:off x="4507992" y="1673352"/>
            <a:ext cx="356616" cy="356616"/>
          </a:xfrm>
          <a:prstGeom prst="rect">
            <a:avLst/>
          </a:prstGeom>
        </p:spPr>
      </p:pic>
      <p:sp>
        <p:nvSpPr>
          <p:cNvPr id="19" name="Text 16"/>
          <p:cNvSpPr txBox="1"/>
          <p:nvPr/>
        </p:nvSpPr>
        <p:spPr>
          <a:xfrm>
            <a:off x="5257800" y="1463040"/>
            <a:ext cx="6309360" cy="411480"/>
          </a:xfrm>
          <a:prstGeom prst="rect">
            <a:avLst/>
          </a:prstGeom>
          <a:noFill/>
          <a:ln/>
        </p:spPr>
        <p:txBody>
          <a:bodyPr wrap="square" lIns="0" tIns="0" rIns="0" bIns="0" rtlCol="0" anchor="ctr"/>
          <a:lstStyle/>
          <a:p>
            <a:pPr indent="0" marL="0">
              <a:buNone/>
            </a:pPr>
            <a:r>
              <a:rPr lang="en-US" sz="1900" b="1" dirty="0">
                <a:solidFill>
                  <a:schemeClr val="tx1"/>
                </a:solidFill>
              </a:rPr>
              <a:t>Demander une absence en 30 secondes</a:t>
            </a:r>
            <a:endParaRPr lang="en-US" sz="1900" dirty="0"/>
          </a:p>
        </p:txBody>
      </p:sp>
      <p:sp>
        <p:nvSpPr>
          <p:cNvPr id="20" name="Text 17"/>
          <p:cNvSpPr txBox="1"/>
          <p:nvPr/>
        </p:nvSpPr>
        <p:spPr>
          <a:xfrm>
            <a:off x="5257800" y="1874520"/>
            <a:ext cx="6309360" cy="502920"/>
          </a:xfrm>
          <a:prstGeom prst="rect">
            <a:avLst/>
          </a:prstGeom>
          <a:noFill/>
          <a:ln/>
        </p:spPr>
        <p:txBody>
          <a:bodyPr wrap="square" lIns="0" tIns="0" rIns="0" bIns="0" rtlCol="0" anchor="ctr"/>
          <a:lstStyle/>
          <a:p>
            <a:pPr indent="0" marL="0">
              <a:buNone/>
            </a:pPr>
            <a:r>
              <a:rPr lang="en-US" sz="1500" dirty="0">
                <a:solidFill>
                  <a:srgbClr val="5B6478"/>
                </a:solidFill>
              </a:rPr>
              <a:t>Il voit tout de suite ses jours restants et la réponse de son responsable.</a:t>
            </a:r>
            <a:endParaRPr lang="en-US" sz="1500" dirty="0"/>
          </a:p>
        </p:txBody>
      </p:sp>
      <p:sp>
        <p:nvSpPr>
          <p:cNvPr id="21" name="icon-circle"/>
          <p:cNvSpPr/>
          <p:nvPr/>
        </p:nvSpPr>
        <p:spPr>
          <a:xfrm>
            <a:off x="4343400" y="2624328"/>
            <a:ext cx="685800" cy="685800"/>
          </a:xfrm>
          <a:prstGeom prst="ellipse">
            <a:avLst/>
          </a:prstGeom>
          <a:solidFill>
            <a:srgbClr val="E0A43A"/>
          </a:solidFill>
          <a:ln/>
        </p:spPr>
      </p:sp>
      <p:pic>
        <p:nvPicPr>
          <p:cNvPr id="22" name="icon LuBell" descr="preencoded.png">    </p:cNvPr>
          <p:cNvPicPr>
            <a:picLocks noChangeAspect="1"/>
          </p:cNvPicPr>
          <p:nvPr/>
        </p:nvPicPr>
        <p:blipFill>
          <a:blip r:embed="rId2"/>
          <a:stretch>
            <a:fillRect/>
          </a:stretch>
        </p:blipFill>
        <p:spPr>
          <a:xfrm>
            <a:off x="4507992" y="2788920"/>
            <a:ext cx="356616" cy="356616"/>
          </a:xfrm>
          <a:prstGeom prst="rect">
            <a:avLst/>
          </a:prstGeom>
        </p:spPr>
      </p:pic>
      <p:sp>
        <p:nvSpPr>
          <p:cNvPr id="23" name="Text 19"/>
          <p:cNvSpPr txBox="1"/>
          <p:nvPr/>
        </p:nvSpPr>
        <p:spPr>
          <a:xfrm>
            <a:off x="5257800" y="2578608"/>
            <a:ext cx="6309360" cy="411480"/>
          </a:xfrm>
          <a:prstGeom prst="rect">
            <a:avLst/>
          </a:prstGeom>
          <a:noFill/>
          <a:ln/>
        </p:spPr>
        <p:txBody>
          <a:bodyPr wrap="square" lIns="0" tIns="0" rIns="0" bIns="0" rtlCol="0" anchor="ctr"/>
          <a:lstStyle/>
          <a:p>
            <a:pPr indent="0" marL="0">
              <a:buNone/>
            </a:pPr>
            <a:r>
              <a:rPr lang="en-US" sz="1900" b="1" dirty="0">
                <a:solidFill>
                  <a:schemeClr val="tx1"/>
                </a:solidFill>
              </a:rPr>
              <a:t>Recevoir l'information sur son téléphone</a:t>
            </a:r>
            <a:endParaRPr lang="en-US" sz="1900" dirty="0"/>
          </a:p>
        </p:txBody>
      </p:sp>
      <p:sp>
        <p:nvSpPr>
          <p:cNvPr id="24" name="Text 20"/>
          <p:cNvSpPr txBox="1"/>
          <p:nvPr/>
        </p:nvSpPr>
        <p:spPr>
          <a:xfrm>
            <a:off x="5257800" y="2990088"/>
            <a:ext cx="6309360" cy="502920"/>
          </a:xfrm>
          <a:prstGeom prst="rect">
            <a:avLst/>
          </a:prstGeom>
          <a:noFill/>
          <a:ln/>
        </p:spPr>
        <p:txBody>
          <a:bodyPr wrap="square" lIns="0" tIns="0" rIns="0" bIns="0" rtlCol="0" anchor="ctr"/>
          <a:lstStyle/>
          <a:p>
            <a:pPr indent="0" marL="0">
              <a:buNone/>
            </a:pPr>
            <a:r>
              <a:rPr lang="en-US" sz="1500" dirty="0">
                <a:solidFill>
                  <a:srgbClr val="5B6478"/>
                </a:solidFill>
              </a:rPr>
              <a:t>Annonces, horaires, documents, congés offerts : une notification, et c'est lu.</a:t>
            </a:r>
            <a:endParaRPr lang="en-US" sz="1500" dirty="0"/>
          </a:p>
        </p:txBody>
      </p:sp>
      <p:sp>
        <p:nvSpPr>
          <p:cNvPr id="25" name="icon-circle"/>
          <p:cNvSpPr/>
          <p:nvPr/>
        </p:nvSpPr>
        <p:spPr>
          <a:xfrm>
            <a:off x="4343400" y="3739896"/>
            <a:ext cx="685800" cy="685800"/>
          </a:xfrm>
          <a:prstGeom prst="ellipse">
            <a:avLst/>
          </a:prstGeom>
          <a:solidFill>
            <a:srgbClr val="C9542C"/>
          </a:solidFill>
          <a:ln/>
        </p:spPr>
      </p:sp>
      <p:pic>
        <p:nvPicPr>
          <p:cNvPr id="26" name="icon LuShieldCheck" descr="preencoded.png">    </p:cNvPr>
          <p:cNvPicPr>
            <a:picLocks noChangeAspect="1"/>
          </p:cNvPicPr>
          <p:nvPr/>
        </p:nvPicPr>
        <p:blipFill>
          <a:blip r:embed="rId3"/>
          <a:stretch>
            <a:fillRect/>
          </a:stretch>
        </p:blipFill>
        <p:spPr>
          <a:xfrm>
            <a:off x="4507992" y="3904488"/>
            <a:ext cx="356616" cy="356616"/>
          </a:xfrm>
          <a:prstGeom prst="rect">
            <a:avLst/>
          </a:prstGeom>
        </p:spPr>
      </p:pic>
      <p:sp>
        <p:nvSpPr>
          <p:cNvPr id="27" name="Text 22"/>
          <p:cNvSpPr txBox="1"/>
          <p:nvPr/>
        </p:nvSpPr>
        <p:spPr>
          <a:xfrm>
            <a:off x="5257800" y="3694176"/>
            <a:ext cx="6309360" cy="411480"/>
          </a:xfrm>
          <a:prstGeom prst="rect">
            <a:avLst/>
          </a:prstGeom>
          <a:noFill/>
          <a:ln/>
        </p:spPr>
        <p:txBody>
          <a:bodyPr wrap="square" lIns="0" tIns="0" rIns="0" bIns="0" rtlCol="0" anchor="ctr"/>
          <a:lstStyle/>
          <a:p>
            <a:pPr indent="0" marL="0">
              <a:buNone/>
            </a:pPr>
            <a:r>
              <a:rPr lang="en-US" sz="1900" b="1" dirty="0">
                <a:solidFill>
                  <a:schemeClr val="tx1"/>
                </a:solidFill>
              </a:rPr>
              <a:t>Signaler un problème, même anonymement</a:t>
            </a:r>
            <a:endParaRPr lang="en-US" sz="1900" dirty="0"/>
          </a:p>
        </p:txBody>
      </p:sp>
      <p:sp>
        <p:nvSpPr>
          <p:cNvPr id="28" name="Text 23"/>
          <p:cNvSpPr txBox="1"/>
          <p:nvPr/>
        </p:nvSpPr>
        <p:spPr>
          <a:xfrm>
            <a:off x="5257800" y="4105656"/>
            <a:ext cx="6309360" cy="502920"/>
          </a:xfrm>
          <a:prstGeom prst="rect">
            <a:avLst/>
          </a:prstGeom>
          <a:noFill/>
          <a:ln/>
        </p:spPr>
        <p:txBody>
          <a:bodyPr wrap="square" lIns="0" tIns="0" rIns="0" bIns="0" rtlCol="0" anchor="ctr"/>
          <a:lstStyle/>
          <a:p>
            <a:pPr indent="0" marL="0">
              <a:buNone/>
            </a:pPr>
            <a:r>
              <a:rPr lang="en-US" sz="1500" dirty="0">
                <a:solidFill>
                  <a:srgbClr val="5B6478"/>
                </a:solidFill>
              </a:rPr>
              <a:t>Ce qui ne se dit pas à voix haute peut enfin être dit.</a:t>
            </a:r>
            <a:endParaRPr lang="en-US" sz="1500" dirty="0"/>
          </a:p>
        </p:txBody>
      </p:sp>
      <p:sp>
        <p:nvSpPr>
          <p:cNvPr id="29" name="icon-circle"/>
          <p:cNvSpPr/>
          <p:nvPr/>
        </p:nvSpPr>
        <p:spPr>
          <a:xfrm>
            <a:off x="4343400" y="4855464"/>
            <a:ext cx="685800" cy="685800"/>
          </a:xfrm>
          <a:prstGeom prst="ellipse">
            <a:avLst/>
          </a:prstGeom>
          <a:solidFill>
            <a:srgbClr val="3F6FB0"/>
          </a:solidFill>
          <a:ln/>
        </p:spPr>
      </p:sp>
      <p:pic>
        <p:nvPicPr>
          <p:cNvPr id="30" name="icon LuClipboardList" descr="preencoded.png">    </p:cNvPr>
          <p:cNvPicPr>
            <a:picLocks noChangeAspect="1"/>
          </p:cNvPicPr>
          <p:nvPr/>
        </p:nvPicPr>
        <p:blipFill>
          <a:blip r:embed="rId4"/>
          <a:stretch>
            <a:fillRect/>
          </a:stretch>
        </p:blipFill>
        <p:spPr>
          <a:xfrm>
            <a:off x="4507992" y="5020056"/>
            <a:ext cx="356616" cy="356616"/>
          </a:xfrm>
          <a:prstGeom prst="rect">
            <a:avLst/>
          </a:prstGeom>
        </p:spPr>
      </p:pic>
      <p:sp>
        <p:nvSpPr>
          <p:cNvPr id="31" name="Text 25"/>
          <p:cNvSpPr txBox="1"/>
          <p:nvPr/>
        </p:nvSpPr>
        <p:spPr>
          <a:xfrm>
            <a:off x="5257800" y="4809744"/>
            <a:ext cx="6309360" cy="411480"/>
          </a:xfrm>
          <a:prstGeom prst="rect">
            <a:avLst/>
          </a:prstGeom>
          <a:noFill/>
          <a:ln/>
        </p:spPr>
        <p:txBody>
          <a:bodyPr wrap="square" lIns="0" tIns="0" rIns="0" bIns="0" rtlCol="0" anchor="ctr"/>
          <a:lstStyle/>
          <a:p>
            <a:pPr indent="0" marL="0">
              <a:buNone/>
            </a:pPr>
            <a:r>
              <a:rPr lang="en-US" sz="1900" b="1" dirty="0">
                <a:solidFill>
                  <a:schemeClr val="tx1"/>
                </a:solidFill>
              </a:rPr>
              <a:t>Donner son avis en 1 minute</a:t>
            </a:r>
            <a:endParaRPr lang="en-US" sz="1900" dirty="0"/>
          </a:p>
        </p:txBody>
      </p:sp>
      <p:sp>
        <p:nvSpPr>
          <p:cNvPr id="32" name="Text 26"/>
          <p:cNvSpPr txBox="1"/>
          <p:nvPr/>
        </p:nvSpPr>
        <p:spPr>
          <a:xfrm>
            <a:off x="5257800" y="5221224"/>
            <a:ext cx="6309360" cy="502920"/>
          </a:xfrm>
          <a:prstGeom prst="rect">
            <a:avLst/>
          </a:prstGeom>
          <a:noFill/>
          <a:ln/>
        </p:spPr>
        <p:txBody>
          <a:bodyPr wrap="square" lIns="0" tIns="0" rIns="0" bIns="0" rtlCol="0" anchor="ctr"/>
          <a:lstStyle/>
          <a:p>
            <a:pPr indent="0" marL="0">
              <a:buNone/>
            </a:pPr>
            <a:r>
              <a:rPr lang="en-US" sz="1500" dirty="0">
                <a:solidFill>
                  <a:srgbClr val="5B6478"/>
                </a:solidFill>
              </a:rPr>
              <a:t>Des sondages courts, anonymes ou non, selon votre choix.</a:t>
            </a:r>
            <a:endParaRPr lang="en-US" sz="1500" dirty="0"/>
          </a:p>
        </p:txBody>
      </p:sp>
      <p:sp>
        <p:nvSpPr>
          <p:cNvPr id="33" name="Text 27"/>
          <p:cNvSpPr txBox="1"/>
          <p:nvPr/>
        </p:nvSpPr>
        <p:spPr>
          <a:xfrm>
            <a:off x="4343400" y="5897880"/>
            <a:ext cx="7223760" cy="365760"/>
          </a:xfrm>
          <a:prstGeom prst="rect">
            <a:avLst/>
          </a:prstGeom>
          <a:noFill/>
          <a:ln/>
        </p:spPr>
        <p:txBody>
          <a:bodyPr wrap="square" lIns="0" tIns="0" rIns="0" bIns="0" rtlCol="0" anchor="ctr"/>
          <a:lstStyle/>
          <a:p>
            <a:pPr indent="0" marL="0">
              <a:buNone/>
            </a:pPr>
            <a:r>
              <a:rPr lang="en-US" sz="1500" i="1" dirty="0">
                <a:solidFill>
                  <a:schemeClr val="accent1"/>
                </a:solidFill>
              </a:rPr>
              <a:t>Pensé pour quelqu'un qui n'aime pas la technologie.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Pour les responsables : leur équipe, rien que leur équipe</a:t>
            </a:r>
            <a:endParaRPr lang="en-US" sz="3200" dirty="0"/>
          </a:p>
        </p:txBody>
      </p:sp>
      <p:sp>
        <p:nvSpPr>
          <p:cNvPr id="3" name="Text 1"/>
          <p:cNvSpPr txBox="1"/>
          <p:nvPr/>
        </p:nvSpPr>
        <p:spPr>
          <a:xfrm>
            <a:off x="548640" y="1371600"/>
            <a:ext cx="11064240" cy="457200"/>
          </a:xfrm>
          <a:prstGeom prst="rect">
            <a:avLst/>
          </a:prstGeom>
          <a:noFill/>
          <a:ln/>
        </p:spPr>
        <p:txBody>
          <a:bodyPr wrap="square" lIns="0" tIns="0" rIns="0" bIns="0" rtlCol="0" anchor="ctr"/>
          <a:lstStyle/>
          <a:p>
            <a:pPr indent="0" marL="0">
              <a:buNone/>
            </a:pPr>
            <a:r>
              <a:rPr lang="en-US" sz="1700" dirty="0">
                <a:solidFill>
                  <a:srgbClr val="5B6478"/>
                </a:solidFill>
              </a:rPr>
              <a:t>Chaque employé choisit son équipe en créant son compte. Un badge de couleur suit son nom partout :</a:t>
            </a:r>
            <a:endParaRPr lang="en-US" sz="1700" dirty="0"/>
          </a:p>
        </p:txBody>
      </p:sp>
      <p:sp>
        <p:nvSpPr>
          <p:cNvPr id="4" name="badge"/>
          <p:cNvSpPr/>
          <p:nvPr/>
        </p:nvSpPr>
        <p:spPr>
          <a:xfrm>
            <a:off x="548640" y="1965960"/>
            <a:ext cx="1659636" cy="457200"/>
          </a:xfrm>
          <a:prstGeom prst="roundRect">
            <a:avLst>
              <a:gd name="adj" fmla="val 50000"/>
            </a:avLst>
          </a:prstGeom>
          <a:solidFill>
            <a:srgbClr val="2F6F5E">
              <a:alpha val="15000"/>
            </a:srgbClr>
          </a:solidFill>
          <a:ln w="12700">
            <a:solidFill>
              <a:srgbClr val="2F6F5E"/>
            </a:solidFill>
            <a:prstDash val="solid"/>
          </a:ln>
        </p:spPr>
      </p:sp>
      <p:sp>
        <p:nvSpPr>
          <p:cNvPr id="5" name="badge-dot"/>
          <p:cNvSpPr/>
          <p:nvPr/>
        </p:nvSpPr>
        <p:spPr>
          <a:xfrm>
            <a:off x="713232" y="2130552"/>
            <a:ext cx="128016" cy="128016"/>
          </a:xfrm>
          <a:prstGeom prst="ellipse">
            <a:avLst/>
          </a:prstGeom>
          <a:solidFill>
            <a:srgbClr val="2F6F5E"/>
          </a:solidFill>
          <a:ln/>
        </p:spPr>
      </p:sp>
      <p:sp>
        <p:nvSpPr>
          <p:cNvPr id="6" name="Text 4"/>
          <p:cNvSpPr txBox="1"/>
          <p:nvPr/>
        </p:nvSpPr>
        <p:spPr>
          <a:xfrm>
            <a:off x="914400" y="1965960"/>
            <a:ext cx="1248156" cy="457200"/>
          </a:xfrm>
          <a:prstGeom prst="rect">
            <a:avLst/>
          </a:prstGeom>
          <a:noFill/>
          <a:ln/>
        </p:spPr>
        <p:txBody>
          <a:bodyPr wrap="square" lIns="0" tIns="0" rIns="0" bIns="0" rtlCol="0" anchor="ctr"/>
          <a:lstStyle/>
          <a:p>
            <a:pPr indent="0" marL="0">
              <a:buNone/>
            </a:pPr>
            <a:r>
              <a:rPr lang="en-US" sz="1400" b="1" dirty="0">
                <a:solidFill>
                  <a:schemeClr val="tx1"/>
                </a:solidFill>
              </a:rPr>
              <a:t>Mécaniciens</a:t>
            </a:r>
            <a:endParaRPr lang="en-US" sz="1400" dirty="0"/>
          </a:p>
        </p:txBody>
      </p:sp>
      <p:sp>
        <p:nvSpPr>
          <p:cNvPr id="7" name="badge"/>
          <p:cNvSpPr/>
          <p:nvPr/>
        </p:nvSpPr>
        <p:spPr>
          <a:xfrm>
            <a:off x="2436876" y="1965960"/>
            <a:ext cx="1764792" cy="457200"/>
          </a:xfrm>
          <a:prstGeom prst="roundRect">
            <a:avLst>
              <a:gd name="adj" fmla="val 50000"/>
            </a:avLst>
          </a:prstGeom>
          <a:solidFill>
            <a:srgbClr val="3F6FB0">
              <a:alpha val="15000"/>
            </a:srgbClr>
          </a:solidFill>
          <a:ln w="12700">
            <a:solidFill>
              <a:srgbClr val="3F6FB0"/>
            </a:solidFill>
            <a:prstDash val="solid"/>
          </a:ln>
        </p:spPr>
      </p:sp>
      <p:sp>
        <p:nvSpPr>
          <p:cNvPr id="8" name="badge-dot"/>
          <p:cNvSpPr/>
          <p:nvPr/>
        </p:nvSpPr>
        <p:spPr>
          <a:xfrm>
            <a:off x="2601468" y="2130552"/>
            <a:ext cx="128016" cy="128016"/>
          </a:xfrm>
          <a:prstGeom prst="ellipse">
            <a:avLst/>
          </a:prstGeom>
          <a:solidFill>
            <a:srgbClr val="3F6FB0"/>
          </a:solidFill>
          <a:ln/>
        </p:spPr>
      </p:sp>
      <p:sp>
        <p:nvSpPr>
          <p:cNvPr id="9" name="Text 7"/>
          <p:cNvSpPr txBox="1"/>
          <p:nvPr/>
        </p:nvSpPr>
        <p:spPr>
          <a:xfrm>
            <a:off x="2802636" y="1965960"/>
            <a:ext cx="1353312" cy="457200"/>
          </a:xfrm>
          <a:prstGeom prst="rect">
            <a:avLst/>
          </a:prstGeom>
          <a:noFill/>
          <a:ln/>
        </p:spPr>
        <p:txBody>
          <a:bodyPr wrap="square" lIns="0" tIns="0" rIns="0" bIns="0" rtlCol="0" anchor="ctr"/>
          <a:lstStyle/>
          <a:p>
            <a:pPr indent="0" marL="0">
              <a:buNone/>
            </a:pPr>
            <a:r>
              <a:rPr lang="en-US" sz="1400" b="1" dirty="0">
                <a:solidFill>
                  <a:schemeClr val="tx1"/>
                </a:solidFill>
              </a:rPr>
              <a:t>Électriciens</a:t>
            </a:r>
            <a:endParaRPr lang="en-US" sz="1400" dirty="0"/>
          </a:p>
        </p:txBody>
      </p:sp>
      <p:sp>
        <p:nvSpPr>
          <p:cNvPr id="10" name="badge"/>
          <p:cNvSpPr/>
          <p:nvPr/>
        </p:nvSpPr>
        <p:spPr>
          <a:xfrm>
            <a:off x="4430268" y="1965960"/>
            <a:ext cx="2080260" cy="457200"/>
          </a:xfrm>
          <a:prstGeom prst="roundRect">
            <a:avLst>
              <a:gd name="adj" fmla="val 50000"/>
            </a:avLst>
          </a:prstGeom>
          <a:solidFill>
            <a:srgbClr val="E0A43A">
              <a:alpha val="15000"/>
            </a:srgbClr>
          </a:solidFill>
          <a:ln w="12700">
            <a:solidFill>
              <a:srgbClr val="E0A43A"/>
            </a:solidFill>
            <a:prstDash val="solid"/>
          </a:ln>
        </p:spPr>
      </p:sp>
      <p:sp>
        <p:nvSpPr>
          <p:cNvPr id="11" name="badge-dot"/>
          <p:cNvSpPr/>
          <p:nvPr/>
        </p:nvSpPr>
        <p:spPr>
          <a:xfrm>
            <a:off x="4594860" y="2130552"/>
            <a:ext cx="128016" cy="128016"/>
          </a:xfrm>
          <a:prstGeom prst="ellipse">
            <a:avLst/>
          </a:prstGeom>
          <a:solidFill>
            <a:srgbClr val="E0A43A"/>
          </a:solidFill>
          <a:ln/>
        </p:spPr>
      </p:sp>
      <p:sp>
        <p:nvSpPr>
          <p:cNvPr id="12" name="Text 10"/>
          <p:cNvSpPr txBox="1"/>
          <p:nvPr/>
        </p:nvSpPr>
        <p:spPr>
          <a:xfrm>
            <a:off x="4796028" y="1965960"/>
            <a:ext cx="1668780" cy="457200"/>
          </a:xfrm>
          <a:prstGeom prst="rect">
            <a:avLst/>
          </a:prstGeom>
          <a:noFill/>
          <a:ln/>
        </p:spPr>
        <p:txBody>
          <a:bodyPr wrap="square" lIns="0" tIns="0" rIns="0" bIns="0" rtlCol="0" anchor="ctr"/>
          <a:lstStyle/>
          <a:p>
            <a:pPr indent="0" marL="0">
              <a:buNone/>
            </a:pPr>
            <a:r>
              <a:rPr lang="en-US" sz="1400" b="1" dirty="0">
                <a:solidFill>
                  <a:schemeClr val="tx1"/>
                </a:solidFill>
              </a:rPr>
              <a:t>Équipe générale</a:t>
            </a:r>
            <a:endParaRPr lang="en-US" sz="1400" dirty="0"/>
          </a:p>
        </p:txBody>
      </p:sp>
      <p:sp>
        <p:nvSpPr>
          <p:cNvPr id="13" name="badge"/>
          <p:cNvSpPr/>
          <p:nvPr/>
        </p:nvSpPr>
        <p:spPr>
          <a:xfrm>
            <a:off x="6739128" y="1965960"/>
            <a:ext cx="1764792" cy="457200"/>
          </a:xfrm>
          <a:prstGeom prst="roundRect">
            <a:avLst>
              <a:gd name="adj" fmla="val 50000"/>
            </a:avLst>
          </a:prstGeom>
          <a:solidFill>
            <a:srgbClr val="8B6BC9">
              <a:alpha val="15000"/>
            </a:srgbClr>
          </a:solidFill>
          <a:ln w="12700">
            <a:solidFill>
              <a:srgbClr val="8B6BC9"/>
            </a:solidFill>
            <a:prstDash val="solid"/>
          </a:ln>
        </p:spPr>
      </p:sp>
      <p:sp>
        <p:nvSpPr>
          <p:cNvPr id="14" name="badge-dot"/>
          <p:cNvSpPr/>
          <p:nvPr/>
        </p:nvSpPr>
        <p:spPr>
          <a:xfrm>
            <a:off x="6903720" y="2130552"/>
            <a:ext cx="128016" cy="128016"/>
          </a:xfrm>
          <a:prstGeom prst="ellipse">
            <a:avLst/>
          </a:prstGeom>
          <a:solidFill>
            <a:srgbClr val="8B6BC9"/>
          </a:solidFill>
          <a:ln/>
        </p:spPr>
      </p:sp>
      <p:sp>
        <p:nvSpPr>
          <p:cNvPr id="15" name="Text 13"/>
          <p:cNvSpPr txBox="1"/>
          <p:nvPr/>
        </p:nvSpPr>
        <p:spPr>
          <a:xfrm>
            <a:off x="7104888" y="1965960"/>
            <a:ext cx="1353312" cy="457200"/>
          </a:xfrm>
          <a:prstGeom prst="rect">
            <a:avLst/>
          </a:prstGeom>
          <a:noFill/>
          <a:ln/>
        </p:spPr>
        <p:txBody>
          <a:bodyPr wrap="square" lIns="0" tIns="0" rIns="0" bIns="0" rtlCol="0" anchor="ctr"/>
          <a:lstStyle/>
          <a:p>
            <a:pPr indent="0" marL="0">
              <a:buNone/>
            </a:pPr>
            <a:r>
              <a:rPr lang="en-US" sz="1400" b="1" dirty="0">
                <a:solidFill>
                  <a:schemeClr val="tx1"/>
                </a:solidFill>
              </a:rPr>
              <a:t>Superviseurs</a:t>
            </a:r>
            <a:endParaRPr lang="en-US" sz="1400" dirty="0"/>
          </a:p>
        </p:txBody>
      </p:sp>
      <p:sp>
        <p:nvSpPr>
          <p:cNvPr id="16" name="badge"/>
          <p:cNvSpPr/>
          <p:nvPr/>
        </p:nvSpPr>
        <p:spPr>
          <a:xfrm>
            <a:off x="8732520" y="1965960"/>
            <a:ext cx="1449324" cy="457200"/>
          </a:xfrm>
          <a:prstGeom prst="roundRect">
            <a:avLst>
              <a:gd name="adj" fmla="val 50000"/>
            </a:avLst>
          </a:prstGeom>
          <a:solidFill>
            <a:srgbClr val="2A9FB0">
              <a:alpha val="15000"/>
            </a:srgbClr>
          </a:solidFill>
          <a:ln w="12700">
            <a:solidFill>
              <a:srgbClr val="2A9FB0"/>
            </a:solidFill>
            <a:prstDash val="solid"/>
          </a:ln>
        </p:spPr>
      </p:sp>
      <p:sp>
        <p:nvSpPr>
          <p:cNvPr id="17" name="badge-dot"/>
          <p:cNvSpPr/>
          <p:nvPr/>
        </p:nvSpPr>
        <p:spPr>
          <a:xfrm>
            <a:off x="8897112" y="2130552"/>
            <a:ext cx="128016" cy="128016"/>
          </a:xfrm>
          <a:prstGeom prst="ellipse">
            <a:avLst/>
          </a:prstGeom>
          <a:solidFill>
            <a:srgbClr val="2A9FB0"/>
          </a:solidFill>
          <a:ln/>
        </p:spPr>
      </p:sp>
      <p:sp>
        <p:nvSpPr>
          <p:cNvPr id="18" name="Text 16"/>
          <p:cNvSpPr txBox="1"/>
          <p:nvPr/>
        </p:nvSpPr>
        <p:spPr>
          <a:xfrm>
            <a:off x="9098280" y="1965960"/>
            <a:ext cx="1037844" cy="457200"/>
          </a:xfrm>
          <a:prstGeom prst="rect">
            <a:avLst/>
          </a:prstGeom>
          <a:noFill/>
          <a:ln/>
        </p:spPr>
        <p:txBody>
          <a:bodyPr wrap="square" lIns="0" tIns="0" rIns="0" bIns="0" rtlCol="0" anchor="ctr"/>
          <a:lstStyle/>
          <a:p>
            <a:pPr indent="0" marL="0">
              <a:buNone/>
            </a:pPr>
            <a:r>
              <a:rPr lang="en-US" sz="1400" b="1" dirty="0">
                <a:solidFill>
                  <a:schemeClr val="tx1"/>
                </a:solidFill>
              </a:rPr>
              <a:t>Entretien</a:t>
            </a:r>
            <a:endParaRPr lang="en-US" sz="1400" dirty="0"/>
          </a:p>
        </p:txBody>
      </p:sp>
      <p:sp>
        <p:nvSpPr>
          <p:cNvPr id="19" name="card"/>
          <p:cNvSpPr/>
          <p:nvPr/>
        </p:nvSpPr>
        <p:spPr>
          <a:xfrm>
            <a:off x="548640" y="2788920"/>
            <a:ext cx="3474720" cy="2788920"/>
          </a:xfrm>
          <a:prstGeom prst="roundRect">
            <a:avLst>
              <a:gd name="adj" fmla="val 3934"/>
            </a:avLst>
          </a:prstGeom>
          <a:solidFill>
            <a:schemeClr val="bg2"/>
          </a:solidFill>
          <a:ln/>
        </p:spPr>
      </p:sp>
      <p:sp>
        <p:nvSpPr>
          <p:cNvPr id="20" name="icon-circle"/>
          <p:cNvSpPr/>
          <p:nvPr/>
        </p:nvSpPr>
        <p:spPr>
          <a:xfrm>
            <a:off x="868680" y="3063240"/>
            <a:ext cx="731520" cy="731520"/>
          </a:xfrm>
          <a:prstGeom prst="ellipse">
            <a:avLst/>
          </a:prstGeom>
          <a:solidFill>
            <a:srgbClr val="2F6F5E"/>
          </a:solidFill>
          <a:ln/>
        </p:spPr>
      </p:sp>
      <p:pic>
        <p:nvPicPr>
          <p:cNvPr id="21" name="icon LuSquareCheckBig" descr="preencoded.png">    </p:cNvPr>
          <p:cNvPicPr>
            <a:picLocks noChangeAspect="1"/>
          </p:cNvPicPr>
          <p:nvPr/>
        </p:nvPicPr>
        <p:blipFill>
          <a:blip r:embed="rId1"/>
          <a:stretch>
            <a:fillRect/>
          </a:stretch>
        </p:blipFill>
        <p:spPr>
          <a:xfrm>
            <a:off x="1044245" y="3238805"/>
            <a:ext cx="380390" cy="380390"/>
          </a:xfrm>
          <a:prstGeom prst="rect">
            <a:avLst/>
          </a:prstGeom>
        </p:spPr>
      </p:pic>
      <p:sp>
        <p:nvSpPr>
          <p:cNvPr id="22" name="Text 19"/>
          <p:cNvSpPr txBox="1"/>
          <p:nvPr/>
        </p:nvSpPr>
        <p:spPr>
          <a:xfrm>
            <a:off x="868680" y="3931920"/>
            <a:ext cx="2834640" cy="685800"/>
          </a:xfrm>
          <a:prstGeom prst="rect">
            <a:avLst/>
          </a:prstGeom>
          <a:noFill/>
          <a:ln/>
        </p:spPr>
        <p:txBody>
          <a:bodyPr wrap="square" lIns="0" tIns="0" rIns="0" bIns="0" rtlCol="0" anchor="t"/>
          <a:lstStyle/>
          <a:p>
            <a:pPr indent="0" marL="0">
              <a:buNone/>
            </a:pPr>
            <a:r>
              <a:rPr lang="en-US" sz="1800" b="1" dirty="0">
                <a:solidFill>
                  <a:schemeClr val="tx1"/>
                </a:solidFill>
              </a:rPr>
              <a:t>Il approuve les absences de son équipe</a:t>
            </a:r>
            <a:endParaRPr lang="en-US" sz="1800" dirty="0"/>
          </a:p>
        </p:txBody>
      </p:sp>
      <p:sp>
        <p:nvSpPr>
          <p:cNvPr id="23" name="Text 20"/>
          <p:cNvSpPr txBox="1"/>
          <p:nvPr/>
        </p:nvSpPr>
        <p:spPr>
          <a:xfrm>
            <a:off x="868680" y="4617720"/>
            <a:ext cx="2834640" cy="868680"/>
          </a:xfrm>
          <a:prstGeom prst="rect">
            <a:avLst/>
          </a:prstGeom>
          <a:noFill/>
          <a:ln/>
        </p:spPr>
        <p:txBody>
          <a:bodyPr wrap="square" lIns="0" tIns="0" rIns="0" bIns="0" rtlCol="0" anchor="t"/>
          <a:lstStyle/>
          <a:p>
            <a:pPr indent="0" marL="0">
              <a:buNone/>
            </a:pPr>
            <a:r>
              <a:rPr lang="en-US" sz="1400" dirty="0">
                <a:solidFill>
                  <a:srgbClr val="5B6478"/>
                </a:solidFill>
              </a:rPr>
              <a:t>Il voit combien de jours il restera à la personne, et qui d'autre est déjà absent ces jours-là.</a:t>
            </a:r>
            <a:endParaRPr lang="en-US" sz="1400" dirty="0"/>
          </a:p>
        </p:txBody>
      </p:sp>
      <p:sp>
        <p:nvSpPr>
          <p:cNvPr id="24" name="card"/>
          <p:cNvSpPr/>
          <p:nvPr/>
        </p:nvSpPr>
        <p:spPr>
          <a:xfrm>
            <a:off x="4297680" y="2788920"/>
            <a:ext cx="3474720" cy="2788920"/>
          </a:xfrm>
          <a:prstGeom prst="roundRect">
            <a:avLst>
              <a:gd name="adj" fmla="val 3934"/>
            </a:avLst>
          </a:prstGeom>
          <a:solidFill>
            <a:schemeClr val="bg2"/>
          </a:solidFill>
          <a:ln/>
        </p:spPr>
      </p:sp>
      <p:sp>
        <p:nvSpPr>
          <p:cNvPr id="25" name="icon-circle"/>
          <p:cNvSpPr/>
          <p:nvPr/>
        </p:nvSpPr>
        <p:spPr>
          <a:xfrm>
            <a:off x="4617720" y="3063240"/>
            <a:ext cx="731520" cy="731520"/>
          </a:xfrm>
          <a:prstGeom prst="ellipse">
            <a:avLst/>
          </a:prstGeom>
          <a:solidFill>
            <a:srgbClr val="3F6FB0"/>
          </a:solidFill>
          <a:ln/>
        </p:spPr>
      </p:sp>
      <p:pic>
        <p:nvPicPr>
          <p:cNvPr id="26" name="icon LuUsers" descr="preencoded.png">    </p:cNvPr>
          <p:cNvPicPr>
            <a:picLocks noChangeAspect="1"/>
          </p:cNvPicPr>
          <p:nvPr/>
        </p:nvPicPr>
        <p:blipFill>
          <a:blip r:embed="rId2"/>
          <a:stretch>
            <a:fillRect/>
          </a:stretch>
        </p:blipFill>
        <p:spPr>
          <a:xfrm>
            <a:off x="4793285" y="3238805"/>
            <a:ext cx="380390" cy="380390"/>
          </a:xfrm>
          <a:prstGeom prst="rect">
            <a:avLst/>
          </a:prstGeom>
        </p:spPr>
      </p:pic>
      <p:sp>
        <p:nvSpPr>
          <p:cNvPr id="27" name="Text 23"/>
          <p:cNvSpPr txBox="1"/>
          <p:nvPr/>
        </p:nvSpPr>
        <p:spPr>
          <a:xfrm>
            <a:off x="4617720" y="3931920"/>
            <a:ext cx="2834640" cy="685800"/>
          </a:xfrm>
          <a:prstGeom prst="rect">
            <a:avLst/>
          </a:prstGeom>
          <a:noFill/>
          <a:ln/>
        </p:spPr>
        <p:txBody>
          <a:bodyPr wrap="square" lIns="0" tIns="0" rIns="0" bIns="0" rtlCol="0" anchor="t"/>
          <a:lstStyle/>
          <a:p>
            <a:pPr indent="0" marL="0">
              <a:buNone/>
            </a:pPr>
            <a:r>
              <a:rPr lang="en-US" sz="1800" b="1" dirty="0">
                <a:solidFill>
                  <a:schemeClr val="tx1"/>
                </a:solidFill>
              </a:rPr>
              <a:t>Il sait qui manque aujourd'hui</a:t>
            </a:r>
            <a:endParaRPr lang="en-US" sz="1800" dirty="0"/>
          </a:p>
        </p:txBody>
      </p:sp>
      <p:sp>
        <p:nvSpPr>
          <p:cNvPr id="28" name="Text 24"/>
          <p:cNvSpPr txBox="1"/>
          <p:nvPr/>
        </p:nvSpPr>
        <p:spPr>
          <a:xfrm>
            <a:off x="4617720" y="4617720"/>
            <a:ext cx="2834640" cy="868680"/>
          </a:xfrm>
          <a:prstGeom prst="rect">
            <a:avLst/>
          </a:prstGeom>
          <a:noFill/>
          <a:ln/>
        </p:spPr>
        <p:txBody>
          <a:bodyPr wrap="square" lIns="0" tIns="0" rIns="0" bIns="0" rtlCol="0" anchor="t"/>
          <a:lstStyle/>
          <a:p>
            <a:pPr indent="0" marL="0">
              <a:buNone/>
            </a:pPr>
            <a:r>
              <a:rPr lang="en-US" sz="1400" dirty="0">
                <a:solidFill>
                  <a:srgbClr val="5B6478"/>
                </a:solidFill>
              </a:rPr>
              <a:t>Le calendrier de son équipe, à jour en temps réel. Plus de surprise en début de quart.</a:t>
            </a:r>
            <a:endParaRPr lang="en-US" sz="1400" dirty="0"/>
          </a:p>
        </p:txBody>
      </p:sp>
      <p:sp>
        <p:nvSpPr>
          <p:cNvPr id="29" name="card"/>
          <p:cNvSpPr/>
          <p:nvPr/>
        </p:nvSpPr>
        <p:spPr>
          <a:xfrm>
            <a:off x="8046720" y="2788920"/>
            <a:ext cx="3474720" cy="2788920"/>
          </a:xfrm>
          <a:prstGeom prst="roundRect">
            <a:avLst>
              <a:gd name="adj" fmla="val 3934"/>
            </a:avLst>
          </a:prstGeom>
          <a:solidFill>
            <a:schemeClr val="bg2"/>
          </a:solidFill>
          <a:ln/>
        </p:spPr>
      </p:sp>
      <p:sp>
        <p:nvSpPr>
          <p:cNvPr id="30" name="icon-circle"/>
          <p:cNvSpPr/>
          <p:nvPr/>
        </p:nvSpPr>
        <p:spPr>
          <a:xfrm>
            <a:off x="8366760" y="3063240"/>
            <a:ext cx="731520" cy="731520"/>
          </a:xfrm>
          <a:prstGeom prst="ellipse">
            <a:avLst/>
          </a:prstGeom>
          <a:solidFill>
            <a:srgbClr val="E0A43A"/>
          </a:solidFill>
          <a:ln/>
        </p:spPr>
      </p:sp>
      <p:pic>
        <p:nvPicPr>
          <p:cNvPr id="31" name="icon LuMessageSquare" descr="preencoded.png">    </p:cNvPr>
          <p:cNvPicPr>
            <a:picLocks noChangeAspect="1"/>
          </p:cNvPicPr>
          <p:nvPr/>
        </p:nvPicPr>
        <p:blipFill>
          <a:blip r:embed="rId3"/>
          <a:stretch>
            <a:fillRect/>
          </a:stretch>
        </p:blipFill>
        <p:spPr>
          <a:xfrm>
            <a:off x="8542325" y="3238805"/>
            <a:ext cx="380390" cy="380390"/>
          </a:xfrm>
          <a:prstGeom prst="rect">
            <a:avLst/>
          </a:prstGeom>
        </p:spPr>
      </p:pic>
      <p:sp>
        <p:nvSpPr>
          <p:cNvPr id="32" name="Text 27"/>
          <p:cNvSpPr txBox="1"/>
          <p:nvPr/>
        </p:nvSpPr>
        <p:spPr>
          <a:xfrm>
            <a:off x="8366760" y="3931920"/>
            <a:ext cx="2834640" cy="685800"/>
          </a:xfrm>
          <a:prstGeom prst="rect">
            <a:avLst/>
          </a:prstGeom>
          <a:noFill/>
          <a:ln/>
        </p:spPr>
        <p:txBody>
          <a:bodyPr wrap="square" lIns="0" tIns="0" rIns="0" bIns="0" rtlCol="0" anchor="t"/>
          <a:lstStyle/>
          <a:p>
            <a:pPr indent="0" marL="0">
              <a:buNone/>
            </a:pPr>
            <a:r>
              <a:rPr lang="en-US" sz="1800" b="1" dirty="0">
                <a:solidFill>
                  <a:schemeClr val="tx1"/>
                </a:solidFill>
              </a:rPr>
              <a:t>Il parle directement à ses gens</a:t>
            </a:r>
            <a:endParaRPr lang="en-US" sz="1800" dirty="0"/>
          </a:p>
        </p:txBody>
      </p:sp>
      <p:sp>
        <p:nvSpPr>
          <p:cNvPr id="33" name="Text 28"/>
          <p:cNvSpPr txBox="1"/>
          <p:nvPr/>
        </p:nvSpPr>
        <p:spPr>
          <a:xfrm>
            <a:off x="8366760" y="4617720"/>
            <a:ext cx="2834640" cy="868680"/>
          </a:xfrm>
          <a:prstGeom prst="rect">
            <a:avLst/>
          </a:prstGeom>
          <a:noFill/>
          <a:ln/>
        </p:spPr>
        <p:txBody>
          <a:bodyPr wrap="square" lIns="0" tIns="0" rIns="0" bIns="0" rtlCol="0" anchor="t"/>
          <a:lstStyle/>
          <a:p>
            <a:pPr indent="0" marL="0">
              <a:buNone/>
            </a:pPr>
            <a:r>
              <a:rPr lang="en-US" sz="1400" dirty="0">
                <a:solidFill>
                  <a:srgbClr val="5B6478"/>
                </a:solidFill>
              </a:rPr>
              <a:t>Un message ciblé à un membre de son équipe, sans passer par trois personnes.</a:t>
            </a:r>
            <a:endParaRPr lang="en-US" sz="1400" dirty="0"/>
          </a:p>
        </p:txBody>
      </p:sp>
      <p:sp>
        <p:nvSpPr>
          <p:cNvPr id="34" name="Text 29"/>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500" i="1" dirty="0">
                <a:solidFill>
                  <a:schemeClr val="accent1"/>
                </a:solidFill>
              </a:rPr>
              <a:t>Il ne voit que ses équipes — et jamais les signalements, qui restent aux RH.</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Pour vous, les RH : tout voir, sans courir après personne</a:t>
            </a:r>
            <a:endParaRPr lang="en-US" sz="3200" dirty="0"/>
          </a:p>
        </p:txBody>
      </p:sp>
      <p:sp>
        <p:nvSpPr>
          <p:cNvPr id="3" name="card"/>
          <p:cNvSpPr/>
          <p:nvPr/>
        </p:nvSpPr>
        <p:spPr>
          <a:xfrm>
            <a:off x="548640" y="1463040"/>
            <a:ext cx="3474720" cy="2011680"/>
          </a:xfrm>
          <a:prstGeom prst="roundRect">
            <a:avLst>
              <a:gd name="adj" fmla="val 5455"/>
            </a:avLst>
          </a:prstGeom>
          <a:solidFill>
            <a:schemeClr val="bg2"/>
          </a:solidFill>
          <a:ln/>
        </p:spPr>
      </p:sp>
      <p:sp>
        <p:nvSpPr>
          <p:cNvPr id="4" name="icon-circle"/>
          <p:cNvSpPr/>
          <p:nvPr/>
        </p:nvSpPr>
        <p:spPr>
          <a:xfrm>
            <a:off x="822960" y="1737360"/>
            <a:ext cx="640080" cy="640080"/>
          </a:xfrm>
          <a:prstGeom prst="ellipse">
            <a:avLst/>
          </a:prstGeom>
          <a:solidFill>
            <a:srgbClr val="2F6F5E"/>
          </a:solidFill>
          <a:ln/>
        </p:spPr>
      </p:sp>
      <p:pic>
        <p:nvPicPr>
          <p:cNvPr id="5" name="icon LuLayoutDashboard" descr="preencoded.png">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1600200" y="169164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Un tableau de bord en temps réel</a:t>
            </a:r>
            <a:endParaRPr lang="en-US" sz="1600" dirty="0"/>
          </a:p>
        </p:txBody>
      </p:sp>
      <p:sp>
        <p:nvSpPr>
          <p:cNvPr id="7" name="Text 4"/>
          <p:cNvSpPr txBox="1"/>
          <p:nvPr/>
        </p:nvSpPr>
        <p:spPr>
          <a:xfrm>
            <a:off x="822960" y="2514600"/>
            <a:ext cx="2971800" cy="868680"/>
          </a:xfrm>
          <a:prstGeom prst="rect">
            <a:avLst/>
          </a:prstGeom>
          <a:noFill/>
          <a:ln/>
        </p:spPr>
        <p:txBody>
          <a:bodyPr wrap="square" lIns="0" tIns="0" rIns="0" bIns="0" rtlCol="0" anchor="t"/>
          <a:lstStyle/>
          <a:p>
            <a:pPr indent="0" marL="0">
              <a:buNone/>
            </a:pPr>
            <a:r>
              <a:rPr lang="en-US" sz="1300" dirty="0">
                <a:solidFill>
                  <a:srgbClr val="5B6478"/>
                </a:solidFill>
              </a:rPr>
              <a:t>Absences à approuver, absents aujourd'hui, signalements ouverts, nouvelles recrues.</a:t>
            </a:r>
            <a:endParaRPr lang="en-US" sz="1300" dirty="0"/>
          </a:p>
        </p:txBody>
      </p:sp>
      <p:sp>
        <p:nvSpPr>
          <p:cNvPr id="8" name="card"/>
          <p:cNvSpPr/>
          <p:nvPr/>
        </p:nvSpPr>
        <p:spPr>
          <a:xfrm>
            <a:off x="4297680" y="1463040"/>
            <a:ext cx="3474720" cy="2011680"/>
          </a:xfrm>
          <a:prstGeom prst="roundRect">
            <a:avLst>
              <a:gd name="adj" fmla="val 5455"/>
            </a:avLst>
          </a:prstGeom>
          <a:solidFill>
            <a:schemeClr val="bg2"/>
          </a:solidFill>
          <a:ln/>
        </p:spPr>
      </p:sp>
      <p:sp>
        <p:nvSpPr>
          <p:cNvPr id="9" name="icon-circle"/>
          <p:cNvSpPr/>
          <p:nvPr/>
        </p:nvSpPr>
        <p:spPr>
          <a:xfrm>
            <a:off x="4572000" y="1737360"/>
            <a:ext cx="640080" cy="640080"/>
          </a:xfrm>
          <a:prstGeom prst="ellipse">
            <a:avLst/>
          </a:prstGeom>
          <a:solidFill>
            <a:srgbClr val="E0A43A"/>
          </a:solidFill>
          <a:ln/>
        </p:spPr>
      </p:sp>
      <p:pic>
        <p:nvPicPr>
          <p:cNvPr id="10" name="icon LuCalendarHeart" descr="preencoded.png">    </p:cNvPr>
          <p:cNvPicPr>
            <a:picLocks noChangeAspect="1"/>
          </p:cNvPicPr>
          <p:nvPr/>
        </p:nvPicPr>
        <p:blipFill>
          <a:blip r:embed="rId2"/>
          <a:stretch>
            <a:fillRect/>
          </a:stretch>
        </p:blipFill>
        <p:spPr>
          <a:xfrm>
            <a:off x="4725619" y="1890979"/>
            <a:ext cx="332842" cy="332842"/>
          </a:xfrm>
          <a:prstGeom prst="rect">
            <a:avLst/>
          </a:prstGeom>
        </p:spPr>
      </p:pic>
      <p:sp>
        <p:nvSpPr>
          <p:cNvPr id="11" name="Text 7"/>
          <p:cNvSpPr txBox="1"/>
          <p:nvPr/>
        </p:nvSpPr>
        <p:spPr>
          <a:xfrm>
            <a:off x="5349240" y="169164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Les congés offerts, annoncés à tous</a:t>
            </a:r>
            <a:endParaRPr lang="en-US" sz="1600" dirty="0"/>
          </a:p>
        </p:txBody>
      </p:sp>
      <p:sp>
        <p:nvSpPr>
          <p:cNvPr id="12" name="Text 8"/>
          <p:cNvSpPr txBox="1"/>
          <p:nvPr/>
        </p:nvSpPr>
        <p:spPr>
          <a:xfrm>
            <a:off x="4572000" y="2514600"/>
            <a:ext cx="2971800" cy="868680"/>
          </a:xfrm>
          <a:prstGeom prst="rect">
            <a:avLst/>
          </a:prstGeom>
          <a:noFill/>
          <a:ln/>
        </p:spPr>
        <p:txBody>
          <a:bodyPr wrap="square" lIns="0" tIns="0" rIns="0" bIns="0" rtlCol="0" anchor="t"/>
          <a:lstStyle/>
          <a:p>
            <a:pPr indent="0" marL="0">
              <a:buNone/>
            </a:pPr>
            <a:r>
              <a:rPr lang="en-US" sz="1300" dirty="0">
                <a:solidFill>
                  <a:srgbClr val="5B6478"/>
                </a:solidFill>
              </a:rPr>
              <a:t>Fermeture des fêtes, après-midi libre : programmé une fois, chacun est prévenu.</a:t>
            </a:r>
            <a:endParaRPr lang="en-US" sz="1300" dirty="0"/>
          </a:p>
        </p:txBody>
      </p:sp>
      <p:sp>
        <p:nvSpPr>
          <p:cNvPr id="13" name="card"/>
          <p:cNvSpPr/>
          <p:nvPr/>
        </p:nvSpPr>
        <p:spPr>
          <a:xfrm>
            <a:off x="8046720" y="1463040"/>
            <a:ext cx="3474720" cy="2011680"/>
          </a:xfrm>
          <a:prstGeom prst="roundRect">
            <a:avLst>
              <a:gd name="adj" fmla="val 5455"/>
            </a:avLst>
          </a:prstGeom>
          <a:solidFill>
            <a:schemeClr val="bg2"/>
          </a:solidFill>
          <a:ln/>
        </p:spPr>
      </p:sp>
      <p:sp>
        <p:nvSpPr>
          <p:cNvPr id="14" name="icon-circle"/>
          <p:cNvSpPr/>
          <p:nvPr/>
        </p:nvSpPr>
        <p:spPr>
          <a:xfrm>
            <a:off x="8321040" y="1737360"/>
            <a:ext cx="640080" cy="640080"/>
          </a:xfrm>
          <a:prstGeom prst="ellipse">
            <a:avLst/>
          </a:prstGeom>
          <a:solidFill>
            <a:srgbClr val="3F6FB0"/>
          </a:solidFill>
          <a:ln/>
        </p:spPr>
      </p:sp>
      <p:pic>
        <p:nvPicPr>
          <p:cNvPr id="15" name="icon LuChartBar" descr="preencoded.png">    </p:cNvPr>
          <p:cNvPicPr>
            <a:picLocks noChangeAspect="1"/>
          </p:cNvPicPr>
          <p:nvPr/>
        </p:nvPicPr>
        <p:blipFill>
          <a:blip r:embed="rId3"/>
          <a:stretch>
            <a:fillRect/>
          </a:stretch>
        </p:blipFill>
        <p:spPr>
          <a:xfrm>
            <a:off x="8474659" y="1890979"/>
            <a:ext cx="332842" cy="332842"/>
          </a:xfrm>
          <a:prstGeom prst="rect">
            <a:avLst/>
          </a:prstGeom>
        </p:spPr>
      </p:pic>
      <p:sp>
        <p:nvSpPr>
          <p:cNvPr id="16" name="Text 11"/>
          <p:cNvSpPr txBox="1"/>
          <p:nvPr/>
        </p:nvSpPr>
        <p:spPr>
          <a:xfrm>
            <a:off x="9098280" y="169164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Des sondages aux résultats clairs</a:t>
            </a:r>
            <a:endParaRPr lang="en-US" sz="1600" dirty="0"/>
          </a:p>
        </p:txBody>
      </p:sp>
      <p:sp>
        <p:nvSpPr>
          <p:cNvPr id="17" name="Text 12"/>
          <p:cNvSpPr txBox="1"/>
          <p:nvPr/>
        </p:nvSpPr>
        <p:spPr>
          <a:xfrm>
            <a:off x="8321040" y="2514600"/>
            <a:ext cx="2971800" cy="868680"/>
          </a:xfrm>
          <a:prstGeom prst="rect">
            <a:avLst/>
          </a:prstGeom>
          <a:noFill/>
          <a:ln/>
        </p:spPr>
        <p:txBody>
          <a:bodyPr wrap="square" lIns="0" tIns="0" rIns="0" bIns="0" rtlCol="0" anchor="t"/>
          <a:lstStyle/>
          <a:p>
            <a:pPr indent="0" marL="0">
              <a:buNone/>
            </a:pPr>
            <a:r>
              <a:rPr lang="en-US" sz="1300" dirty="0">
                <a:solidFill>
                  <a:srgbClr val="5B6478"/>
                </a:solidFill>
              </a:rPr>
              <a:t>Taux de participation, réponses par département, phrases d'analyse.</a:t>
            </a:r>
            <a:endParaRPr lang="en-US" sz="1300" dirty="0"/>
          </a:p>
        </p:txBody>
      </p:sp>
      <p:sp>
        <p:nvSpPr>
          <p:cNvPr id="18" name="card"/>
          <p:cNvSpPr/>
          <p:nvPr/>
        </p:nvSpPr>
        <p:spPr>
          <a:xfrm>
            <a:off x="548640" y="3703320"/>
            <a:ext cx="3474720" cy="2011680"/>
          </a:xfrm>
          <a:prstGeom prst="roundRect">
            <a:avLst>
              <a:gd name="adj" fmla="val 5455"/>
            </a:avLst>
          </a:prstGeom>
          <a:solidFill>
            <a:schemeClr val="bg2"/>
          </a:solidFill>
          <a:ln/>
        </p:spPr>
      </p:sp>
      <p:sp>
        <p:nvSpPr>
          <p:cNvPr id="19" name="icon-circle"/>
          <p:cNvSpPr/>
          <p:nvPr/>
        </p:nvSpPr>
        <p:spPr>
          <a:xfrm>
            <a:off x="822960" y="3977640"/>
            <a:ext cx="640080" cy="640080"/>
          </a:xfrm>
          <a:prstGeom prst="ellipse">
            <a:avLst/>
          </a:prstGeom>
          <a:solidFill>
            <a:srgbClr val="C9542C"/>
          </a:solidFill>
          <a:ln/>
        </p:spPr>
      </p:sp>
      <p:pic>
        <p:nvPicPr>
          <p:cNvPr id="20" name="icon LuFlag" descr="preencoded.png">    </p:cNvPr>
          <p:cNvPicPr>
            <a:picLocks noChangeAspect="1"/>
          </p:cNvPicPr>
          <p:nvPr/>
        </p:nvPicPr>
        <p:blipFill>
          <a:blip r:embed="rId4"/>
          <a:stretch>
            <a:fillRect/>
          </a:stretch>
        </p:blipFill>
        <p:spPr>
          <a:xfrm>
            <a:off x="976579" y="4131259"/>
            <a:ext cx="332842" cy="332842"/>
          </a:xfrm>
          <a:prstGeom prst="rect">
            <a:avLst/>
          </a:prstGeom>
        </p:spPr>
      </p:pic>
      <p:sp>
        <p:nvSpPr>
          <p:cNvPr id="21" name="Text 15"/>
          <p:cNvSpPr txBox="1"/>
          <p:nvPr/>
        </p:nvSpPr>
        <p:spPr>
          <a:xfrm>
            <a:off x="1600200" y="393192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Des signalements suivis jusqu'au bout</a:t>
            </a:r>
            <a:endParaRPr lang="en-US" sz="1600" dirty="0"/>
          </a:p>
        </p:txBody>
      </p:sp>
      <p:sp>
        <p:nvSpPr>
          <p:cNvPr id="22" name="Text 16"/>
          <p:cNvSpPr txBox="1"/>
          <p:nvPr/>
        </p:nvSpPr>
        <p:spPr>
          <a:xfrm>
            <a:off x="822960" y="4754880"/>
            <a:ext cx="2971800" cy="868680"/>
          </a:xfrm>
          <a:prstGeom prst="rect">
            <a:avLst/>
          </a:prstGeom>
          <a:noFill/>
          <a:ln/>
        </p:spPr>
        <p:txBody>
          <a:bodyPr wrap="square" lIns="0" tIns="0" rIns="0" bIns="0" rtlCol="0" anchor="t"/>
          <a:lstStyle/>
          <a:p>
            <a:pPr indent="0" marL="0">
              <a:buNone/>
            </a:pPr>
            <a:r>
              <a:rPr lang="en-US" sz="1300" dirty="0">
                <a:solidFill>
                  <a:srgbClr val="5B6478"/>
                </a:solidFill>
              </a:rPr>
              <a:t>Nouveau, vu, en cours, résolu. Rien ne se perd dans une boîte de courriels.</a:t>
            </a:r>
            <a:endParaRPr lang="en-US" sz="1300" dirty="0"/>
          </a:p>
        </p:txBody>
      </p:sp>
      <p:sp>
        <p:nvSpPr>
          <p:cNvPr id="23" name="card"/>
          <p:cNvSpPr/>
          <p:nvPr/>
        </p:nvSpPr>
        <p:spPr>
          <a:xfrm>
            <a:off x="4297680" y="3703320"/>
            <a:ext cx="3474720" cy="2011680"/>
          </a:xfrm>
          <a:prstGeom prst="roundRect">
            <a:avLst>
              <a:gd name="adj" fmla="val 5455"/>
            </a:avLst>
          </a:prstGeom>
          <a:solidFill>
            <a:schemeClr val="bg2"/>
          </a:solidFill>
          <a:ln/>
        </p:spPr>
      </p:sp>
      <p:sp>
        <p:nvSpPr>
          <p:cNvPr id="24" name="icon-circle"/>
          <p:cNvSpPr/>
          <p:nvPr/>
        </p:nvSpPr>
        <p:spPr>
          <a:xfrm>
            <a:off x="4572000" y="3977640"/>
            <a:ext cx="640080" cy="640080"/>
          </a:xfrm>
          <a:prstGeom prst="ellipse">
            <a:avLst/>
          </a:prstGeom>
          <a:solidFill>
            <a:srgbClr val="8B6BC9"/>
          </a:solidFill>
          <a:ln/>
        </p:spPr>
      </p:sp>
      <p:pic>
        <p:nvPicPr>
          <p:cNvPr id="25" name="icon LuNetwork" descr="preencoded.png">    </p:cNvPr>
          <p:cNvPicPr>
            <a:picLocks noChangeAspect="1"/>
          </p:cNvPicPr>
          <p:nvPr/>
        </p:nvPicPr>
        <p:blipFill>
          <a:blip r:embed="rId5"/>
          <a:stretch>
            <a:fillRect/>
          </a:stretch>
        </p:blipFill>
        <p:spPr>
          <a:xfrm>
            <a:off x="4725619" y="4131259"/>
            <a:ext cx="332842" cy="332842"/>
          </a:xfrm>
          <a:prstGeom prst="rect">
            <a:avLst/>
          </a:prstGeom>
        </p:spPr>
      </p:pic>
      <p:sp>
        <p:nvSpPr>
          <p:cNvPr id="26" name="Text 19"/>
          <p:cNvSpPr txBox="1"/>
          <p:nvPr/>
        </p:nvSpPr>
        <p:spPr>
          <a:xfrm>
            <a:off x="5349240" y="393192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500 employés, organisés en un coup d'œil</a:t>
            </a:r>
            <a:endParaRPr lang="en-US" sz="1600" dirty="0"/>
          </a:p>
        </p:txBody>
      </p:sp>
      <p:sp>
        <p:nvSpPr>
          <p:cNvPr id="27" name="Text 20"/>
          <p:cNvSpPr txBox="1"/>
          <p:nvPr/>
        </p:nvSpPr>
        <p:spPr>
          <a:xfrm>
            <a:off x="4572000" y="4754880"/>
            <a:ext cx="2971800" cy="868680"/>
          </a:xfrm>
          <a:prstGeom prst="rect">
            <a:avLst/>
          </a:prstGeom>
          <a:noFill/>
          <a:ln/>
        </p:spPr>
        <p:txBody>
          <a:bodyPr wrap="square" lIns="0" tIns="0" rIns="0" bIns="0" rtlCol="0" anchor="t"/>
          <a:lstStyle/>
          <a:p>
            <a:pPr indent="0" marL="0">
              <a:buNone/>
            </a:pPr>
            <a:r>
              <a:rPr lang="en-US" sz="1300" dirty="0">
                <a:solidFill>
                  <a:srgbClr val="5B6478"/>
                </a:solidFill>
              </a:rPr>
              <a:t>Filtrer par département, déplacer un groupe en un clic.</a:t>
            </a:r>
            <a:endParaRPr lang="en-US" sz="1300" dirty="0"/>
          </a:p>
        </p:txBody>
      </p:sp>
      <p:sp>
        <p:nvSpPr>
          <p:cNvPr id="28" name="card"/>
          <p:cNvSpPr/>
          <p:nvPr/>
        </p:nvSpPr>
        <p:spPr>
          <a:xfrm>
            <a:off x="8046720" y="3703320"/>
            <a:ext cx="3474720" cy="2011680"/>
          </a:xfrm>
          <a:prstGeom prst="roundRect">
            <a:avLst>
              <a:gd name="adj" fmla="val 5455"/>
            </a:avLst>
          </a:prstGeom>
          <a:solidFill>
            <a:schemeClr val="bg2"/>
          </a:solidFill>
          <a:ln/>
        </p:spPr>
      </p:sp>
      <p:sp>
        <p:nvSpPr>
          <p:cNvPr id="29" name="icon-circle"/>
          <p:cNvSpPr/>
          <p:nvPr/>
        </p:nvSpPr>
        <p:spPr>
          <a:xfrm>
            <a:off x="8321040" y="3977640"/>
            <a:ext cx="640080" cy="640080"/>
          </a:xfrm>
          <a:prstGeom prst="ellipse">
            <a:avLst/>
          </a:prstGeom>
          <a:solidFill>
            <a:srgbClr val="2A9FB0"/>
          </a:solidFill>
          <a:ln/>
        </p:spPr>
      </p:sp>
      <p:pic>
        <p:nvPicPr>
          <p:cNvPr id="30" name="icon LuDownload" descr="preencoded.png">    </p:cNvPr>
          <p:cNvPicPr>
            <a:picLocks noChangeAspect="1"/>
          </p:cNvPicPr>
          <p:nvPr/>
        </p:nvPicPr>
        <p:blipFill>
          <a:blip r:embed="rId6"/>
          <a:stretch>
            <a:fillRect/>
          </a:stretch>
        </p:blipFill>
        <p:spPr>
          <a:xfrm>
            <a:off x="8474659" y="4131259"/>
            <a:ext cx="332842" cy="332842"/>
          </a:xfrm>
          <a:prstGeom prst="rect">
            <a:avLst/>
          </a:prstGeom>
        </p:spPr>
      </p:pic>
      <p:sp>
        <p:nvSpPr>
          <p:cNvPr id="31" name="Text 23"/>
          <p:cNvSpPr txBox="1"/>
          <p:nvPr/>
        </p:nvSpPr>
        <p:spPr>
          <a:xfrm>
            <a:off x="9098280" y="393192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Exports et historique</a:t>
            </a:r>
            <a:endParaRPr lang="en-US" sz="1600" dirty="0"/>
          </a:p>
        </p:txBody>
      </p:sp>
      <p:sp>
        <p:nvSpPr>
          <p:cNvPr id="32" name="Text 24"/>
          <p:cNvSpPr txBox="1"/>
          <p:nvPr/>
        </p:nvSpPr>
        <p:spPr>
          <a:xfrm>
            <a:off x="8321040" y="4754880"/>
            <a:ext cx="2971800" cy="868680"/>
          </a:xfrm>
          <a:prstGeom prst="rect">
            <a:avLst/>
          </a:prstGeom>
          <a:noFill/>
          <a:ln/>
        </p:spPr>
        <p:txBody>
          <a:bodyPr wrap="square" lIns="0" tIns="0" rIns="0" bIns="0" rtlCol="0" anchor="t"/>
          <a:lstStyle/>
          <a:p>
            <a:pPr indent="0" marL="0">
              <a:buNone/>
            </a:pPr>
            <a:r>
              <a:rPr lang="en-US" sz="1300" dirty="0">
                <a:solidFill>
                  <a:srgbClr val="5B6478"/>
                </a:solidFill>
              </a:rPr>
              <a:t>Listes en CSV ou PDF, et la trace de chaque action importante.</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Comprendre les départs pour garder vos employés</a:t>
            </a:r>
            <a:endParaRPr lang="en-US" sz="3200" dirty="0"/>
          </a:p>
        </p:txBody>
      </p:sp>
      <p:graphicFrame>
        <p:nvGraphicFramePr>
          <p:cNvPr id="3" name="chart-reasons" descr=""/>
          <p:cNvGraphicFramePr/>
          <p:nvPr/>
        </p:nvGraphicFramePr>
        <p:xfrm>
          <a:off x="548640" y="14173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4" name="insight"/>
          <p:cNvSpPr/>
          <p:nvPr/>
        </p:nvSpPr>
        <p:spPr>
          <a:xfrm>
            <a:off x="6949440" y="1463040"/>
            <a:ext cx="4663440" cy="1600200"/>
          </a:xfrm>
          <a:prstGeom prst="roundRect">
            <a:avLst>
              <a:gd name="adj" fmla="val 6857"/>
            </a:avLst>
          </a:prstGeom>
          <a:solidFill>
            <a:srgbClr val="FDECEC"/>
          </a:solidFill>
          <a:ln/>
        </p:spPr>
      </p:sp>
      <p:sp>
        <p:nvSpPr>
          <p:cNvPr id="5" name="Text 2"/>
          <p:cNvSpPr txBox="1"/>
          <p:nvPr/>
        </p:nvSpPr>
        <p:spPr>
          <a:xfrm>
            <a:off x="7178040" y="1508760"/>
            <a:ext cx="4251960" cy="1508760"/>
          </a:xfrm>
          <a:prstGeom prst="rect">
            <a:avLst/>
          </a:prstGeom>
          <a:noFill/>
          <a:ln/>
        </p:spPr>
        <p:txBody>
          <a:bodyPr wrap="square" lIns="0" tIns="0" rIns="0" bIns="0" rtlCol="0" anchor="ctr"/>
          <a:lstStyle/>
          <a:p>
            <a:pPr indent="0" marL="0">
              <a:buNone/>
            </a:pPr>
            <a:r>
              <a:rPr lang="en-US" sz="1400" b="1" dirty="0">
                <a:solidFill>
                  <a:srgbClr val="C9542C"/>
                </a:solidFill>
              </a:rPr>
              <a:t>Ce que l'application vous dit :</a:t>
            </a:r>
            <a:endParaRPr lang="en-US" sz="1400" dirty="0"/>
          </a:p>
          <a:p>
            <a:pPr indent="0" marL="0">
              <a:buNone/>
            </a:pPr>
            <a:r>
              <a:rPr lang="en-US" sz="1400" i="1" dirty="0">
                <a:solidFill>
                  <a:srgbClr val="1C2438"/>
                </a:solidFill>
              </a:rPr>
              <a:t>« Le département Production a un taux de départ 1,6× supérieur à la moyenne. Raison principale : les horaires. »</a:t>
            </a:r>
            <a:endParaRPr lang="en-US" sz="1400" dirty="0"/>
          </a:p>
        </p:txBody>
      </p:sp>
      <p:pic>
        <p:nvPicPr>
          <p:cNvPr id="6" name="check" descr="preencoded.png">    </p:cNvPr>
          <p:cNvPicPr>
            <a:picLocks noChangeAspect="1"/>
          </p:cNvPicPr>
          <p:nvPr/>
        </p:nvPicPr>
        <p:blipFill>
          <a:blip r:embed="rId2"/>
          <a:stretch>
            <a:fillRect/>
          </a:stretch>
        </p:blipFill>
        <p:spPr>
          <a:xfrm>
            <a:off x="6949440" y="3337560"/>
            <a:ext cx="347472" cy="347472"/>
          </a:xfrm>
          <a:prstGeom prst="rect">
            <a:avLst/>
          </a:prstGeom>
        </p:spPr>
      </p:pic>
      <p:sp>
        <p:nvSpPr>
          <p:cNvPr id="7" name="Text 3"/>
          <p:cNvSpPr txBox="1"/>
          <p:nvPr/>
        </p:nvSpPr>
        <p:spPr>
          <a:xfrm>
            <a:off x="7452360" y="3291840"/>
            <a:ext cx="4206240" cy="566928"/>
          </a:xfrm>
          <a:prstGeom prst="rect">
            <a:avLst/>
          </a:prstGeom>
          <a:noFill/>
          <a:ln/>
        </p:spPr>
        <p:txBody>
          <a:bodyPr wrap="square" lIns="0" tIns="0" rIns="0" bIns="0" rtlCol="0" anchor="t"/>
          <a:lstStyle/>
          <a:p>
            <a:pPr indent="0" marL="0">
              <a:buNone/>
            </a:pPr>
            <a:r>
              <a:rPr lang="en-US" sz="1300" b="1" dirty="0">
                <a:solidFill>
                  <a:schemeClr val="tx1"/>
                </a:solidFill>
              </a:rPr>
              <a:t>Un questionnaire de départ de 3 minutes</a:t>
            </a:r>
            <a:endParaRPr lang="en-US" sz="1300" dirty="0"/>
          </a:p>
          <a:p>
            <a:pPr indent="0" marL="0">
              <a:buNone/>
            </a:pPr>
            <a:r>
              <a:rPr lang="en-US" sz="1300" dirty="0">
                <a:solidFill>
                  <a:srgbClr val="5B6478"/>
                </a:solidFill>
              </a:rPr>
              <a:t>rempli par la personne qui part</a:t>
            </a:r>
            <a:endParaRPr lang="en-US" sz="1300" dirty="0"/>
          </a:p>
        </p:txBody>
      </p:sp>
      <p:pic>
        <p:nvPicPr>
          <p:cNvPr id="8" name="check" descr="preencoded.png">    </p:cNvPr>
          <p:cNvPicPr>
            <a:picLocks noChangeAspect="1"/>
          </p:cNvPicPr>
          <p:nvPr/>
        </p:nvPicPr>
        <p:blipFill>
          <a:blip r:embed="rId3"/>
          <a:stretch>
            <a:fillRect/>
          </a:stretch>
        </p:blipFill>
        <p:spPr>
          <a:xfrm>
            <a:off x="6949440" y="3959352"/>
            <a:ext cx="347472" cy="347472"/>
          </a:xfrm>
          <a:prstGeom prst="rect">
            <a:avLst/>
          </a:prstGeom>
        </p:spPr>
      </p:pic>
      <p:sp>
        <p:nvSpPr>
          <p:cNvPr id="9" name="Text 4"/>
          <p:cNvSpPr txBox="1"/>
          <p:nvPr/>
        </p:nvSpPr>
        <p:spPr>
          <a:xfrm>
            <a:off x="7452360" y="3913632"/>
            <a:ext cx="4206240" cy="566928"/>
          </a:xfrm>
          <a:prstGeom prst="rect">
            <a:avLst/>
          </a:prstGeom>
          <a:noFill/>
          <a:ln/>
        </p:spPr>
        <p:txBody>
          <a:bodyPr wrap="square" lIns="0" tIns="0" rIns="0" bIns="0" rtlCol="0" anchor="t"/>
          <a:lstStyle/>
          <a:p>
            <a:pPr indent="0" marL="0">
              <a:buNone/>
            </a:pPr>
            <a:r>
              <a:rPr lang="en-US" sz="1300" b="1" dirty="0">
                <a:solidFill>
                  <a:schemeClr val="tx1"/>
                </a:solidFill>
              </a:rPr>
              <a:t>Les vraies raisons, en pourcentages</a:t>
            </a:r>
            <a:endParaRPr lang="en-US" sz="1300" dirty="0"/>
          </a:p>
          <a:p>
            <a:pPr indent="0" marL="0">
              <a:buNone/>
            </a:pPr>
            <a:r>
              <a:rPr lang="en-US" sz="1300" dirty="0">
                <a:solidFill>
                  <a:srgbClr val="5B6478"/>
                </a:solidFill>
              </a:rPr>
              <a:t>et ce qui l'aurait fait rester</a:t>
            </a:r>
            <a:endParaRPr lang="en-US" sz="1300" dirty="0"/>
          </a:p>
        </p:txBody>
      </p:sp>
      <p:pic>
        <p:nvPicPr>
          <p:cNvPr id="10" name="check" descr="preencoded.png">    </p:cNvPr>
          <p:cNvPicPr>
            <a:picLocks noChangeAspect="1"/>
          </p:cNvPicPr>
          <p:nvPr/>
        </p:nvPicPr>
        <p:blipFill>
          <a:blip r:embed="rId4"/>
          <a:stretch>
            <a:fillRect/>
          </a:stretch>
        </p:blipFill>
        <p:spPr>
          <a:xfrm>
            <a:off x="6949440" y="4581144"/>
            <a:ext cx="347472" cy="347472"/>
          </a:xfrm>
          <a:prstGeom prst="rect">
            <a:avLst/>
          </a:prstGeom>
        </p:spPr>
      </p:pic>
      <p:sp>
        <p:nvSpPr>
          <p:cNvPr id="11" name="Text 5"/>
          <p:cNvSpPr txBox="1"/>
          <p:nvPr/>
        </p:nvSpPr>
        <p:spPr>
          <a:xfrm>
            <a:off x="7452360" y="4535424"/>
            <a:ext cx="4206240" cy="566928"/>
          </a:xfrm>
          <a:prstGeom prst="rect">
            <a:avLst/>
          </a:prstGeom>
          <a:noFill/>
          <a:ln/>
        </p:spPr>
        <p:txBody>
          <a:bodyPr wrap="square" lIns="0" tIns="0" rIns="0" bIns="0" rtlCol="0" anchor="t"/>
          <a:lstStyle/>
          <a:p>
            <a:pPr indent="0" marL="0">
              <a:buNone/>
            </a:pPr>
            <a:r>
              <a:rPr lang="en-US" sz="1300" b="1" dirty="0">
                <a:solidFill>
                  <a:schemeClr val="tx1"/>
                </a:solidFill>
              </a:rPr>
              <a:t>Le département qui perd le plus de monde</a:t>
            </a:r>
            <a:endParaRPr lang="en-US" sz="1300" dirty="0"/>
          </a:p>
          <a:p>
            <a:pPr indent="0" marL="0">
              <a:buNone/>
            </a:pPr>
            <a:r>
              <a:rPr lang="en-US" sz="1300" dirty="0">
                <a:solidFill>
                  <a:srgbClr val="5B6478"/>
                </a:solidFill>
              </a:rPr>
              <a:t>repéré automatiquement</a:t>
            </a:r>
            <a:endParaRPr lang="en-US" sz="1300" dirty="0"/>
          </a:p>
        </p:txBody>
      </p:sp>
      <p:pic>
        <p:nvPicPr>
          <p:cNvPr id="12" name="check" descr="preencoded.png">    </p:cNvPr>
          <p:cNvPicPr>
            <a:picLocks noChangeAspect="1"/>
          </p:cNvPicPr>
          <p:nvPr/>
        </p:nvPicPr>
        <p:blipFill>
          <a:blip r:embed="rId5"/>
          <a:stretch>
            <a:fillRect/>
          </a:stretch>
        </p:blipFill>
        <p:spPr>
          <a:xfrm>
            <a:off x="6949440" y="5202936"/>
            <a:ext cx="347472" cy="347472"/>
          </a:xfrm>
          <a:prstGeom prst="rect">
            <a:avLst/>
          </a:prstGeom>
        </p:spPr>
      </p:pic>
      <p:sp>
        <p:nvSpPr>
          <p:cNvPr id="13" name="Text 6"/>
          <p:cNvSpPr txBox="1"/>
          <p:nvPr/>
        </p:nvSpPr>
        <p:spPr>
          <a:xfrm>
            <a:off x="7452360" y="5157216"/>
            <a:ext cx="4206240" cy="566928"/>
          </a:xfrm>
          <a:prstGeom prst="rect">
            <a:avLst/>
          </a:prstGeom>
          <a:noFill/>
          <a:ln/>
        </p:spPr>
        <p:txBody>
          <a:bodyPr wrap="square" lIns="0" tIns="0" rIns="0" bIns="0" rtlCol="0" anchor="t"/>
          <a:lstStyle/>
          <a:p>
            <a:pPr indent="0" marL="0">
              <a:buNone/>
            </a:pPr>
            <a:r>
              <a:rPr lang="en-US" sz="1300" b="1" dirty="0">
                <a:solidFill>
                  <a:schemeClr val="tx1"/>
                </a:solidFill>
              </a:rPr>
              <a:t>Une fin d'emploi bien organisée</a:t>
            </a:r>
            <a:endParaRPr lang="en-US" sz="1300" dirty="0"/>
          </a:p>
          <a:p>
            <a:pPr indent="0" marL="0">
              <a:buNone/>
            </a:pPr>
            <a:r>
              <a:rPr lang="en-US" sz="1300" dirty="0">
                <a:solidFill>
                  <a:srgbClr val="5B6478"/>
                </a:solidFill>
              </a:rPr>
              <a:t>rendez-vous, clés, accès, documents</a:t>
            </a:r>
            <a:endParaRPr lang="en-US" sz="1300" dirty="0"/>
          </a:p>
        </p:txBody>
      </p:sp>
      <p:sp>
        <p:nvSpPr>
          <p:cNvPr id="14" name="Text 7"/>
          <p:cNvSpPr txBox="1"/>
          <p:nvPr/>
        </p:nvSpPr>
        <p:spPr>
          <a:xfrm>
            <a:off x="548640" y="5532120"/>
            <a:ext cx="6035040" cy="365760"/>
          </a:xfrm>
          <a:prstGeom prst="rect">
            <a:avLst/>
          </a:prstGeom>
          <a:noFill/>
          <a:ln/>
        </p:spPr>
        <p:txBody>
          <a:bodyPr wrap="square" lIns="0" tIns="0" rIns="0" bIns="0" rtlCol="0" anchor="ctr"/>
          <a:lstStyle/>
          <a:p>
            <a:pPr indent="0" marL="0">
              <a:buNone/>
            </a:pPr>
            <a:r>
              <a:rPr lang="en-US" sz="1200" i="1" dirty="0">
                <a:solidFill>
                  <a:srgbClr val="5B6478"/>
                </a:solidFill>
              </a:rPr>
              <a:t>Les chiffres ci-contre sont un exemple : avec Mindmate, ce seront les vôtres.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400" b="1" spc="200" kern="0" dirty="0">
                <a:solidFill>
                  <a:srgbClr val="E0A43A"/>
                </a:solidFill>
              </a:rPr>
              <a:t>DÉMONSTRATION EN DIRECT</a:t>
            </a:r>
            <a:endParaRPr lang="en-US" sz="1400" dirty="0"/>
          </a:p>
        </p:txBody>
      </p:sp>
      <p:sp>
        <p:nvSpPr>
          <p:cNvPr id="3" name="Text 1"/>
          <p:cNvSpPr txBox="1"/>
          <p:nvPr/>
        </p:nvSpPr>
        <p:spPr>
          <a:xfrm>
            <a:off x="731520" y="1188720"/>
            <a:ext cx="1051560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Voyons-le fonctionner.</a:t>
            </a:r>
            <a:endParaRPr lang="en-US" sz="4400" dirty="0"/>
          </a:p>
        </p:txBody>
      </p:sp>
      <p:sp>
        <p:nvSpPr>
          <p:cNvPr id="4" name="Text 2"/>
          <p:cNvSpPr txBox="1"/>
          <p:nvPr/>
        </p:nvSpPr>
        <p:spPr>
          <a:xfrm>
            <a:off x="731520" y="2103120"/>
            <a:ext cx="10515600" cy="457200"/>
          </a:xfrm>
          <a:prstGeom prst="rect">
            <a:avLst/>
          </a:prstGeom>
          <a:noFill/>
          <a:ln/>
        </p:spPr>
        <p:txBody>
          <a:bodyPr wrap="square" lIns="0" tIns="0" rIns="0" bIns="0" rtlCol="0" anchor="ctr"/>
          <a:lstStyle/>
          <a:p>
            <a:pPr indent="0" marL="0">
              <a:buNone/>
            </a:pPr>
            <a:r>
              <a:rPr lang="en-US" sz="2000" dirty="0">
                <a:solidFill>
                  <a:srgbClr val="7FD1B9"/>
                </a:solidFill>
              </a:rPr>
              <a:t>www.mindmatecompagny.com</a:t>
            </a:r>
            <a:endParaRPr lang="en-US" sz="2000" dirty="0"/>
          </a:p>
        </p:txBody>
      </p:sp>
      <p:sp>
        <p:nvSpPr>
          <p:cNvPr id="5" name="demo-step"/>
          <p:cNvSpPr/>
          <p:nvPr/>
        </p:nvSpPr>
        <p:spPr>
          <a:xfrm>
            <a:off x="731520" y="3017520"/>
            <a:ext cx="2011680" cy="2468880"/>
          </a:xfrm>
          <a:prstGeom prst="roundRect">
            <a:avLst>
              <a:gd name="adj" fmla="val 5455"/>
            </a:avLst>
          </a:prstGeom>
          <a:solidFill>
            <a:srgbClr val="26304A"/>
          </a:solidFill>
          <a:ln/>
        </p:spPr>
      </p:sp>
      <p:sp>
        <p:nvSpPr>
          <p:cNvPr id="6" name="step-number"/>
          <p:cNvSpPr/>
          <p:nvPr/>
        </p:nvSpPr>
        <p:spPr>
          <a:xfrm>
            <a:off x="1005840" y="3291840"/>
            <a:ext cx="640080" cy="640080"/>
          </a:xfrm>
          <a:prstGeom prst="ellipse">
            <a:avLst/>
          </a:prstGeom>
          <a:solidFill>
            <a:schemeClr val="accent2"/>
          </a:solidFill>
          <a:ln/>
        </p:spPr>
      </p:sp>
      <p:sp>
        <p:nvSpPr>
          <p:cNvPr id="7" name="Text 5"/>
          <p:cNvSpPr txBox="1"/>
          <p:nvPr/>
        </p:nvSpPr>
        <p:spPr>
          <a:xfrm>
            <a:off x="1005840" y="32918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8" name="Text 6"/>
          <p:cNvSpPr txBox="1"/>
          <p:nvPr/>
        </p:nvSpPr>
        <p:spPr>
          <a:xfrm>
            <a:off x="1005840" y="4069080"/>
            <a:ext cx="1600200" cy="822960"/>
          </a:xfrm>
          <a:prstGeom prst="rect">
            <a:avLst/>
          </a:prstGeom>
          <a:noFill/>
          <a:ln/>
        </p:spPr>
        <p:txBody>
          <a:bodyPr wrap="square" lIns="0" tIns="0" rIns="0" bIns="0" rtlCol="0" anchor="t"/>
          <a:lstStyle/>
          <a:p>
            <a:pPr indent="0" marL="0">
              <a:buNone/>
            </a:pPr>
            <a:r>
              <a:rPr lang="en-US" sz="1500" b="1" dirty="0">
                <a:solidFill>
                  <a:schemeClr val="bg1"/>
                </a:solidFill>
              </a:rPr>
              <a:t>Un employé demande une absence</a:t>
            </a:r>
            <a:endParaRPr lang="en-US" sz="1500" dirty="0"/>
          </a:p>
        </p:txBody>
      </p:sp>
      <p:sp>
        <p:nvSpPr>
          <p:cNvPr id="9" name="Text 7"/>
          <p:cNvSpPr txBox="1"/>
          <p:nvPr/>
        </p:nvSpPr>
        <p:spPr>
          <a:xfrm>
            <a:off x="1005840" y="4892040"/>
            <a:ext cx="1600200" cy="457200"/>
          </a:xfrm>
          <a:prstGeom prst="rect">
            <a:avLst/>
          </a:prstGeom>
          <a:noFill/>
          <a:ln/>
        </p:spPr>
        <p:txBody>
          <a:bodyPr wrap="square" lIns="0" tIns="0" rIns="0" bIns="0" rtlCol="0" anchor="t"/>
          <a:lstStyle/>
          <a:p>
            <a:pPr indent="0" marL="0">
              <a:buNone/>
            </a:pPr>
            <a:r>
              <a:rPr lang="en-US" sz="1300" dirty="0">
                <a:solidFill>
                  <a:srgbClr val="B7BECC"/>
                </a:solidFill>
              </a:rPr>
              <a:t>sur son téléphone</a:t>
            </a:r>
            <a:endParaRPr lang="en-US" sz="1300" dirty="0"/>
          </a:p>
        </p:txBody>
      </p:sp>
      <p:sp>
        <p:nvSpPr>
          <p:cNvPr id="10" name="demo-step"/>
          <p:cNvSpPr/>
          <p:nvPr/>
        </p:nvSpPr>
        <p:spPr>
          <a:xfrm>
            <a:off x="2926080" y="3017520"/>
            <a:ext cx="2011680" cy="2468880"/>
          </a:xfrm>
          <a:prstGeom prst="roundRect">
            <a:avLst>
              <a:gd name="adj" fmla="val 5455"/>
            </a:avLst>
          </a:prstGeom>
          <a:solidFill>
            <a:srgbClr val="26304A"/>
          </a:solidFill>
          <a:ln/>
        </p:spPr>
      </p:sp>
      <p:sp>
        <p:nvSpPr>
          <p:cNvPr id="11" name="step-number"/>
          <p:cNvSpPr/>
          <p:nvPr/>
        </p:nvSpPr>
        <p:spPr>
          <a:xfrm>
            <a:off x="3200400" y="3291840"/>
            <a:ext cx="640080" cy="640080"/>
          </a:xfrm>
          <a:prstGeom prst="ellipse">
            <a:avLst/>
          </a:prstGeom>
          <a:solidFill>
            <a:schemeClr val="accent2"/>
          </a:solidFill>
          <a:ln/>
        </p:spPr>
      </p:sp>
      <p:sp>
        <p:nvSpPr>
          <p:cNvPr id="12" name="Text 10"/>
          <p:cNvSpPr txBox="1"/>
          <p:nvPr/>
        </p:nvSpPr>
        <p:spPr>
          <a:xfrm>
            <a:off x="3200400" y="32918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3" name="Text 11"/>
          <p:cNvSpPr txBox="1"/>
          <p:nvPr/>
        </p:nvSpPr>
        <p:spPr>
          <a:xfrm>
            <a:off x="3200400" y="4069080"/>
            <a:ext cx="1600200" cy="822960"/>
          </a:xfrm>
          <a:prstGeom prst="rect">
            <a:avLst/>
          </a:prstGeom>
          <a:noFill/>
          <a:ln/>
        </p:spPr>
        <p:txBody>
          <a:bodyPr wrap="square" lIns="0" tIns="0" rIns="0" bIns="0" rtlCol="0" anchor="t"/>
          <a:lstStyle/>
          <a:p>
            <a:pPr indent="0" marL="0">
              <a:buNone/>
            </a:pPr>
            <a:r>
              <a:rPr lang="en-US" sz="1500" b="1" dirty="0">
                <a:solidFill>
                  <a:schemeClr val="bg1"/>
                </a:solidFill>
              </a:rPr>
              <a:t>Son responsable l'approuve</a:t>
            </a:r>
            <a:endParaRPr lang="en-US" sz="1500" dirty="0"/>
          </a:p>
        </p:txBody>
      </p:sp>
      <p:sp>
        <p:nvSpPr>
          <p:cNvPr id="14" name="Text 12"/>
          <p:cNvSpPr txBox="1"/>
          <p:nvPr/>
        </p:nvSpPr>
        <p:spPr>
          <a:xfrm>
            <a:off x="3200400" y="4892040"/>
            <a:ext cx="1600200" cy="457200"/>
          </a:xfrm>
          <a:prstGeom prst="rect">
            <a:avLst/>
          </a:prstGeom>
          <a:noFill/>
          <a:ln/>
        </p:spPr>
        <p:txBody>
          <a:bodyPr wrap="square" lIns="0" tIns="0" rIns="0" bIns="0" rtlCol="0" anchor="t"/>
          <a:lstStyle/>
          <a:p>
            <a:pPr indent="0" marL="0">
              <a:buNone/>
            </a:pPr>
            <a:r>
              <a:rPr lang="en-US" sz="1300" dirty="0">
                <a:solidFill>
                  <a:srgbClr val="B7BECC"/>
                </a:solidFill>
              </a:rPr>
              <a:t>en un clic</a:t>
            </a:r>
            <a:endParaRPr lang="en-US" sz="1300" dirty="0"/>
          </a:p>
        </p:txBody>
      </p:sp>
      <p:sp>
        <p:nvSpPr>
          <p:cNvPr id="15" name="demo-step"/>
          <p:cNvSpPr/>
          <p:nvPr/>
        </p:nvSpPr>
        <p:spPr>
          <a:xfrm>
            <a:off x="5120640" y="3017520"/>
            <a:ext cx="2011680" cy="2468880"/>
          </a:xfrm>
          <a:prstGeom prst="roundRect">
            <a:avLst>
              <a:gd name="adj" fmla="val 5455"/>
            </a:avLst>
          </a:prstGeom>
          <a:solidFill>
            <a:srgbClr val="26304A"/>
          </a:solidFill>
          <a:ln/>
        </p:spPr>
      </p:sp>
      <p:sp>
        <p:nvSpPr>
          <p:cNvPr id="16" name="step-number"/>
          <p:cNvSpPr/>
          <p:nvPr/>
        </p:nvSpPr>
        <p:spPr>
          <a:xfrm>
            <a:off x="5394960" y="3291840"/>
            <a:ext cx="640080" cy="640080"/>
          </a:xfrm>
          <a:prstGeom prst="ellipse">
            <a:avLst/>
          </a:prstGeom>
          <a:solidFill>
            <a:schemeClr val="accent2"/>
          </a:solidFill>
          <a:ln/>
        </p:spPr>
      </p:sp>
      <p:sp>
        <p:nvSpPr>
          <p:cNvPr id="17" name="Text 15"/>
          <p:cNvSpPr txBox="1"/>
          <p:nvPr/>
        </p:nvSpPr>
        <p:spPr>
          <a:xfrm>
            <a:off x="5394960" y="32918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8" name="Text 16"/>
          <p:cNvSpPr txBox="1"/>
          <p:nvPr/>
        </p:nvSpPr>
        <p:spPr>
          <a:xfrm>
            <a:off x="5394960" y="4069080"/>
            <a:ext cx="1600200" cy="822960"/>
          </a:xfrm>
          <a:prstGeom prst="rect">
            <a:avLst/>
          </a:prstGeom>
          <a:noFill/>
          <a:ln/>
        </p:spPr>
        <p:txBody>
          <a:bodyPr wrap="square" lIns="0" tIns="0" rIns="0" bIns="0" rtlCol="0" anchor="t"/>
          <a:lstStyle/>
          <a:p>
            <a:pPr indent="0" marL="0">
              <a:buNone/>
            </a:pPr>
            <a:r>
              <a:rPr lang="en-US" sz="1500" b="1" dirty="0">
                <a:solidFill>
                  <a:schemeClr val="bg1"/>
                </a:solidFill>
              </a:rPr>
              <a:t>Le calendrier de l'équipe</a:t>
            </a:r>
            <a:endParaRPr lang="en-US" sz="1500" dirty="0"/>
          </a:p>
        </p:txBody>
      </p:sp>
      <p:sp>
        <p:nvSpPr>
          <p:cNvPr id="19" name="Text 17"/>
          <p:cNvSpPr txBox="1"/>
          <p:nvPr/>
        </p:nvSpPr>
        <p:spPr>
          <a:xfrm>
            <a:off x="5394960" y="4892040"/>
            <a:ext cx="1600200" cy="457200"/>
          </a:xfrm>
          <a:prstGeom prst="rect">
            <a:avLst/>
          </a:prstGeom>
          <a:noFill/>
          <a:ln/>
        </p:spPr>
        <p:txBody>
          <a:bodyPr wrap="square" lIns="0" tIns="0" rIns="0" bIns="0" rtlCol="0" anchor="t"/>
          <a:lstStyle/>
          <a:p>
            <a:pPr indent="0" marL="0">
              <a:buNone/>
            </a:pPr>
            <a:r>
              <a:rPr lang="en-US" sz="1300" dirty="0">
                <a:solidFill>
                  <a:srgbClr val="B7BECC"/>
                </a:solidFill>
              </a:rPr>
              <a:t>se met à jour</a:t>
            </a:r>
            <a:endParaRPr lang="en-US" sz="1300" dirty="0"/>
          </a:p>
        </p:txBody>
      </p:sp>
      <p:sp>
        <p:nvSpPr>
          <p:cNvPr id="20" name="demo-step"/>
          <p:cNvSpPr/>
          <p:nvPr/>
        </p:nvSpPr>
        <p:spPr>
          <a:xfrm>
            <a:off x="7315200" y="3017520"/>
            <a:ext cx="2011680" cy="2468880"/>
          </a:xfrm>
          <a:prstGeom prst="roundRect">
            <a:avLst>
              <a:gd name="adj" fmla="val 5455"/>
            </a:avLst>
          </a:prstGeom>
          <a:solidFill>
            <a:srgbClr val="26304A"/>
          </a:solidFill>
          <a:ln/>
        </p:spPr>
      </p:sp>
      <p:sp>
        <p:nvSpPr>
          <p:cNvPr id="21" name="step-number"/>
          <p:cNvSpPr/>
          <p:nvPr/>
        </p:nvSpPr>
        <p:spPr>
          <a:xfrm>
            <a:off x="7589520" y="3291840"/>
            <a:ext cx="640080" cy="640080"/>
          </a:xfrm>
          <a:prstGeom prst="ellipse">
            <a:avLst/>
          </a:prstGeom>
          <a:solidFill>
            <a:schemeClr val="accent2"/>
          </a:solidFill>
          <a:ln/>
        </p:spPr>
      </p:sp>
      <p:sp>
        <p:nvSpPr>
          <p:cNvPr id="22" name="Text 20"/>
          <p:cNvSpPr txBox="1"/>
          <p:nvPr/>
        </p:nvSpPr>
        <p:spPr>
          <a:xfrm>
            <a:off x="7589520" y="32918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23" name="Text 21"/>
          <p:cNvSpPr txBox="1"/>
          <p:nvPr/>
        </p:nvSpPr>
        <p:spPr>
          <a:xfrm>
            <a:off x="7589520" y="4069080"/>
            <a:ext cx="1600200" cy="822960"/>
          </a:xfrm>
          <a:prstGeom prst="rect">
            <a:avLst/>
          </a:prstGeom>
          <a:noFill/>
          <a:ln/>
        </p:spPr>
        <p:txBody>
          <a:bodyPr wrap="square" lIns="0" tIns="0" rIns="0" bIns="0" rtlCol="0" anchor="t"/>
          <a:lstStyle/>
          <a:p>
            <a:pPr indent="0" marL="0">
              <a:buNone/>
            </a:pPr>
            <a:r>
              <a:rPr lang="en-US" sz="1500" b="1" dirty="0">
                <a:solidFill>
                  <a:schemeClr val="bg1"/>
                </a:solidFill>
              </a:rPr>
              <a:t>Les RH publient un congé</a:t>
            </a:r>
            <a:endParaRPr lang="en-US" sz="1500" dirty="0"/>
          </a:p>
        </p:txBody>
      </p:sp>
      <p:sp>
        <p:nvSpPr>
          <p:cNvPr id="24" name="Text 22"/>
          <p:cNvSpPr txBox="1"/>
          <p:nvPr/>
        </p:nvSpPr>
        <p:spPr>
          <a:xfrm>
            <a:off x="7589520" y="4892040"/>
            <a:ext cx="1600200" cy="457200"/>
          </a:xfrm>
          <a:prstGeom prst="rect">
            <a:avLst/>
          </a:prstGeom>
          <a:noFill/>
          <a:ln/>
        </p:spPr>
        <p:txBody>
          <a:bodyPr wrap="square" lIns="0" tIns="0" rIns="0" bIns="0" rtlCol="0" anchor="t"/>
          <a:lstStyle/>
          <a:p>
            <a:pPr indent="0" marL="0">
              <a:buNone/>
            </a:pPr>
            <a:r>
              <a:rPr lang="en-US" sz="1300" dirty="0">
                <a:solidFill>
                  <a:srgbClr val="B7BECC"/>
                </a:solidFill>
              </a:rPr>
              <a:t>tout le monde est prévenu</a:t>
            </a:r>
            <a:endParaRPr lang="en-US" sz="1300" dirty="0"/>
          </a:p>
        </p:txBody>
      </p:sp>
      <p:sp>
        <p:nvSpPr>
          <p:cNvPr id="25" name="demo-step"/>
          <p:cNvSpPr/>
          <p:nvPr/>
        </p:nvSpPr>
        <p:spPr>
          <a:xfrm>
            <a:off x="9509760" y="3017520"/>
            <a:ext cx="2011680" cy="2468880"/>
          </a:xfrm>
          <a:prstGeom prst="roundRect">
            <a:avLst>
              <a:gd name="adj" fmla="val 5455"/>
            </a:avLst>
          </a:prstGeom>
          <a:solidFill>
            <a:srgbClr val="26304A"/>
          </a:solidFill>
          <a:ln/>
        </p:spPr>
      </p:sp>
      <p:sp>
        <p:nvSpPr>
          <p:cNvPr id="26" name="step-number"/>
          <p:cNvSpPr/>
          <p:nvPr/>
        </p:nvSpPr>
        <p:spPr>
          <a:xfrm>
            <a:off x="9784080" y="3291840"/>
            <a:ext cx="640080" cy="640080"/>
          </a:xfrm>
          <a:prstGeom prst="ellipse">
            <a:avLst/>
          </a:prstGeom>
          <a:solidFill>
            <a:schemeClr val="accent2"/>
          </a:solidFill>
          <a:ln/>
        </p:spPr>
      </p:sp>
      <p:sp>
        <p:nvSpPr>
          <p:cNvPr id="27" name="Text 25"/>
          <p:cNvSpPr txBox="1"/>
          <p:nvPr/>
        </p:nvSpPr>
        <p:spPr>
          <a:xfrm>
            <a:off x="9784080" y="32918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5</a:t>
            </a:r>
            <a:endParaRPr lang="en-US" sz="2200" dirty="0"/>
          </a:p>
        </p:txBody>
      </p:sp>
      <p:sp>
        <p:nvSpPr>
          <p:cNvPr id="28" name="Text 26"/>
          <p:cNvSpPr txBox="1"/>
          <p:nvPr/>
        </p:nvSpPr>
        <p:spPr>
          <a:xfrm>
            <a:off x="9784080" y="4069080"/>
            <a:ext cx="1600200" cy="822960"/>
          </a:xfrm>
          <a:prstGeom prst="rect">
            <a:avLst/>
          </a:prstGeom>
          <a:noFill/>
          <a:ln/>
        </p:spPr>
        <p:txBody>
          <a:bodyPr wrap="square" lIns="0" tIns="0" rIns="0" bIns="0" rtlCol="0" anchor="t"/>
          <a:lstStyle/>
          <a:p>
            <a:pPr indent="0" marL="0">
              <a:buNone/>
            </a:pPr>
            <a:r>
              <a:rPr lang="en-US" sz="1500" b="1" dirty="0">
                <a:solidFill>
                  <a:schemeClr val="bg1"/>
                </a:solidFill>
              </a:rPr>
              <a:t>Le tableau de bord RH</a:t>
            </a:r>
            <a:endParaRPr lang="en-US" sz="1500" dirty="0"/>
          </a:p>
        </p:txBody>
      </p:sp>
      <p:sp>
        <p:nvSpPr>
          <p:cNvPr id="29" name="Text 27"/>
          <p:cNvSpPr txBox="1"/>
          <p:nvPr/>
        </p:nvSpPr>
        <p:spPr>
          <a:xfrm>
            <a:off x="9784080" y="4892040"/>
            <a:ext cx="1600200" cy="457200"/>
          </a:xfrm>
          <a:prstGeom prst="rect">
            <a:avLst/>
          </a:prstGeom>
          <a:noFill/>
          <a:ln/>
        </p:spPr>
        <p:txBody>
          <a:bodyPr wrap="square" lIns="0" tIns="0" rIns="0" bIns="0" rtlCol="0" anchor="t"/>
          <a:lstStyle/>
          <a:p>
            <a:pPr indent="0" marL="0">
              <a:buNone/>
            </a:pPr>
            <a:r>
              <a:rPr lang="en-US" sz="1300" dirty="0">
                <a:solidFill>
                  <a:srgbClr val="B7BECC"/>
                </a:solidFill>
              </a:rPr>
              <a:t>tout, en un coup d'œil</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Les informations de vos employés sont protégées</a:t>
            </a:r>
            <a:endParaRPr lang="en-US" sz="3200" dirty="0"/>
          </a:p>
        </p:txBody>
      </p:sp>
      <p:sp>
        <p:nvSpPr>
          <p:cNvPr id="3" name="icon-circle"/>
          <p:cNvSpPr/>
          <p:nvPr/>
        </p:nvSpPr>
        <p:spPr>
          <a:xfrm>
            <a:off x="548640" y="1508760"/>
            <a:ext cx="685800" cy="685800"/>
          </a:xfrm>
          <a:prstGeom prst="ellipse">
            <a:avLst/>
          </a:prstGeom>
          <a:solidFill>
            <a:srgbClr val="E7F3EF"/>
          </a:solidFill>
          <a:ln/>
        </p:spPr>
      </p:sp>
      <p:pic>
        <p:nvPicPr>
          <p:cNvPr id="4" name="icon LuBuilding2" descr="preencoded.png">    </p:cNvPr>
          <p:cNvPicPr>
            <a:picLocks noChangeAspect="1"/>
          </p:cNvPicPr>
          <p:nvPr/>
        </p:nvPicPr>
        <p:blipFill>
          <a:blip r:embed="rId1"/>
          <a:stretch>
            <a:fillRect/>
          </a:stretch>
        </p:blipFill>
        <p:spPr>
          <a:xfrm>
            <a:off x="713232" y="1673352"/>
            <a:ext cx="356616" cy="356616"/>
          </a:xfrm>
          <a:prstGeom prst="rect">
            <a:avLst/>
          </a:prstGeom>
        </p:spPr>
      </p:pic>
      <p:sp>
        <p:nvSpPr>
          <p:cNvPr id="5" name="Text 2"/>
          <p:cNvSpPr txBox="1"/>
          <p:nvPr/>
        </p:nvSpPr>
        <p:spPr>
          <a:xfrm>
            <a:off x="1463040" y="141732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Votre espace est fermé</a:t>
            </a:r>
            <a:endParaRPr lang="en-US" sz="1800" dirty="0"/>
          </a:p>
        </p:txBody>
      </p:sp>
      <p:sp>
        <p:nvSpPr>
          <p:cNvPr id="6" name="Text 3"/>
          <p:cNvSpPr txBox="1"/>
          <p:nvPr/>
        </p:nvSpPr>
        <p:spPr>
          <a:xfrm>
            <a:off x="1463040" y="1828800"/>
            <a:ext cx="4480560" cy="914400"/>
          </a:xfrm>
          <a:prstGeom prst="rect">
            <a:avLst/>
          </a:prstGeom>
          <a:noFill/>
          <a:ln/>
        </p:spPr>
        <p:txBody>
          <a:bodyPr wrap="square" lIns="0" tIns="0" rIns="0" bIns="0" rtlCol="0" anchor="t"/>
          <a:lstStyle/>
          <a:p>
            <a:pPr indent="0" marL="0">
              <a:buNone/>
            </a:pPr>
            <a:r>
              <a:rPr lang="en-US" sz="1400" dirty="0">
                <a:solidFill>
                  <a:srgbClr val="5B6478"/>
                </a:solidFill>
              </a:rPr>
              <a:t>Les données de votre entreprise sont séparées de toutes les autres. Personne d'extérieur n'y a accès.</a:t>
            </a:r>
            <a:endParaRPr lang="en-US" sz="1400" dirty="0"/>
          </a:p>
        </p:txBody>
      </p:sp>
      <p:sp>
        <p:nvSpPr>
          <p:cNvPr id="7" name="icon-circle"/>
          <p:cNvSpPr/>
          <p:nvPr/>
        </p:nvSpPr>
        <p:spPr>
          <a:xfrm>
            <a:off x="6217920" y="1508760"/>
            <a:ext cx="685800" cy="685800"/>
          </a:xfrm>
          <a:prstGeom prst="ellipse">
            <a:avLst/>
          </a:prstGeom>
          <a:solidFill>
            <a:srgbClr val="E7F3EF"/>
          </a:solidFill>
          <a:ln/>
        </p:spPr>
      </p:sp>
      <p:pic>
        <p:nvPicPr>
          <p:cNvPr id="8" name="icon LuEyeOff" descr="preencoded.png">    </p:cNvPr>
          <p:cNvPicPr>
            <a:picLocks noChangeAspect="1"/>
          </p:cNvPicPr>
          <p:nvPr/>
        </p:nvPicPr>
        <p:blipFill>
          <a:blip r:embed="rId2"/>
          <a:stretch>
            <a:fillRect/>
          </a:stretch>
        </p:blipFill>
        <p:spPr>
          <a:xfrm>
            <a:off x="6382512" y="1673352"/>
            <a:ext cx="356616" cy="356616"/>
          </a:xfrm>
          <a:prstGeom prst="rect">
            <a:avLst/>
          </a:prstGeom>
        </p:spPr>
      </p:pic>
      <p:sp>
        <p:nvSpPr>
          <p:cNvPr id="9" name="Text 5"/>
          <p:cNvSpPr txBox="1"/>
          <p:nvPr/>
        </p:nvSpPr>
        <p:spPr>
          <a:xfrm>
            <a:off x="7132320" y="141732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L'anonymat est réel</a:t>
            </a:r>
            <a:endParaRPr lang="en-US" sz="1800" dirty="0"/>
          </a:p>
        </p:txBody>
      </p:sp>
      <p:sp>
        <p:nvSpPr>
          <p:cNvPr id="10" name="Text 6"/>
          <p:cNvSpPr txBox="1"/>
          <p:nvPr/>
        </p:nvSpPr>
        <p:spPr>
          <a:xfrm>
            <a:off x="7132320" y="1828800"/>
            <a:ext cx="4480560" cy="914400"/>
          </a:xfrm>
          <a:prstGeom prst="rect">
            <a:avLst/>
          </a:prstGeom>
          <a:noFill/>
          <a:ln/>
        </p:spPr>
        <p:txBody>
          <a:bodyPr wrap="square" lIns="0" tIns="0" rIns="0" bIns="0" rtlCol="0" anchor="t"/>
          <a:lstStyle/>
          <a:p>
            <a:pPr indent="0" marL="0">
              <a:buNone/>
            </a:pPr>
            <a:r>
              <a:rPr lang="en-US" sz="1400" dirty="0">
                <a:solidFill>
                  <a:srgbClr val="5B6478"/>
                </a:solidFill>
              </a:rPr>
              <a:t>Un signalement ou un sondage anonyme ne garde aucun lien avec la personne, même dans la base de données.</a:t>
            </a:r>
            <a:endParaRPr lang="en-US" sz="1400" dirty="0"/>
          </a:p>
        </p:txBody>
      </p:sp>
      <p:sp>
        <p:nvSpPr>
          <p:cNvPr id="11" name="icon-circle"/>
          <p:cNvSpPr/>
          <p:nvPr/>
        </p:nvSpPr>
        <p:spPr>
          <a:xfrm>
            <a:off x="548640" y="3063240"/>
            <a:ext cx="685800" cy="685800"/>
          </a:xfrm>
          <a:prstGeom prst="ellipse">
            <a:avLst/>
          </a:prstGeom>
          <a:solidFill>
            <a:srgbClr val="E7F3EF"/>
          </a:solidFill>
          <a:ln/>
        </p:spPr>
      </p:sp>
      <p:pic>
        <p:nvPicPr>
          <p:cNvPr id="12" name="icon LuUserCheck" descr="preencoded.png">    </p:cNvPr>
          <p:cNvPicPr>
            <a:picLocks noChangeAspect="1"/>
          </p:cNvPicPr>
          <p:nvPr/>
        </p:nvPicPr>
        <p:blipFill>
          <a:blip r:embed="rId3"/>
          <a:stretch>
            <a:fillRect/>
          </a:stretch>
        </p:blipFill>
        <p:spPr>
          <a:xfrm>
            <a:off x="713232" y="3227832"/>
            <a:ext cx="356616" cy="356616"/>
          </a:xfrm>
          <a:prstGeom prst="rect">
            <a:avLst/>
          </a:prstGeom>
        </p:spPr>
      </p:pic>
      <p:sp>
        <p:nvSpPr>
          <p:cNvPr id="13" name="Text 8"/>
          <p:cNvSpPr txBox="1"/>
          <p:nvPr/>
        </p:nvSpPr>
        <p:spPr>
          <a:xfrm>
            <a:off x="1463040" y="297180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Chacun voit ce qu'il doit voir</a:t>
            </a:r>
            <a:endParaRPr lang="en-US" sz="1800" dirty="0"/>
          </a:p>
        </p:txBody>
      </p:sp>
      <p:sp>
        <p:nvSpPr>
          <p:cNvPr id="14" name="Text 9"/>
          <p:cNvSpPr txBox="1"/>
          <p:nvPr/>
        </p:nvSpPr>
        <p:spPr>
          <a:xfrm>
            <a:off x="1463040" y="3383280"/>
            <a:ext cx="4480560" cy="914400"/>
          </a:xfrm>
          <a:prstGeom prst="rect">
            <a:avLst/>
          </a:prstGeom>
          <a:noFill/>
          <a:ln/>
        </p:spPr>
        <p:txBody>
          <a:bodyPr wrap="square" lIns="0" tIns="0" rIns="0" bIns="0" rtlCol="0" anchor="t"/>
          <a:lstStyle/>
          <a:p>
            <a:pPr indent="0" marL="0">
              <a:buNone/>
            </a:pPr>
            <a:r>
              <a:rPr lang="en-US" sz="1400" dirty="0">
                <a:solidFill>
                  <a:srgbClr val="5B6478"/>
                </a:solidFill>
              </a:rPr>
              <a:t>Employé, responsable, RH : chaque rôle a ses accès. Un collègue voit « Absent », jamais « Maladie ».</a:t>
            </a:r>
            <a:endParaRPr lang="en-US" sz="1400" dirty="0"/>
          </a:p>
        </p:txBody>
      </p:sp>
      <p:sp>
        <p:nvSpPr>
          <p:cNvPr id="15" name="icon-circle"/>
          <p:cNvSpPr/>
          <p:nvPr/>
        </p:nvSpPr>
        <p:spPr>
          <a:xfrm>
            <a:off x="6217920" y="3063240"/>
            <a:ext cx="685800" cy="685800"/>
          </a:xfrm>
          <a:prstGeom prst="ellipse">
            <a:avLst/>
          </a:prstGeom>
          <a:solidFill>
            <a:srgbClr val="E7F3EF"/>
          </a:solidFill>
          <a:ln/>
        </p:spPr>
      </p:sp>
      <p:pic>
        <p:nvPicPr>
          <p:cNvPr id="16" name="icon LuShieldCheck" descr="preencoded.png">    </p:cNvPr>
          <p:cNvPicPr>
            <a:picLocks noChangeAspect="1"/>
          </p:cNvPicPr>
          <p:nvPr/>
        </p:nvPicPr>
        <p:blipFill>
          <a:blip r:embed="rId4"/>
          <a:stretch>
            <a:fillRect/>
          </a:stretch>
        </p:blipFill>
        <p:spPr>
          <a:xfrm>
            <a:off x="6382512" y="3227832"/>
            <a:ext cx="356616" cy="356616"/>
          </a:xfrm>
          <a:prstGeom prst="rect">
            <a:avLst/>
          </a:prstGeom>
        </p:spPr>
      </p:pic>
      <p:sp>
        <p:nvSpPr>
          <p:cNvPr id="17" name="Text 11"/>
          <p:cNvSpPr txBox="1"/>
          <p:nvPr/>
        </p:nvSpPr>
        <p:spPr>
          <a:xfrm>
            <a:off x="7132320" y="297180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Pensé pour les règles du Québec</a:t>
            </a:r>
            <a:endParaRPr lang="en-US" sz="1800" dirty="0"/>
          </a:p>
        </p:txBody>
      </p:sp>
      <p:sp>
        <p:nvSpPr>
          <p:cNvPr id="18" name="Text 12"/>
          <p:cNvSpPr txBox="1"/>
          <p:nvPr/>
        </p:nvSpPr>
        <p:spPr>
          <a:xfrm>
            <a:off x="7132320" y="3383280"/>
            <a:ext cx="4480560" cy="914400"/>
          </a:xfrm>
          <a:prstGeom prst="rect">
            <a:avLst/>
          </a:prstGeom>
          <a:noFill/>
          <a:ln/>
        </p:spPr>
        <p:txBody>
          <a:bodyPr wrap="square" lIns="0" tIns="0" rIns="0" bIns="0" rtlCol="0" anchor="t"/>
          <a:lstStyle/>
          <a:p>
            <a:pPr indent="0" marL="0">
              <a:buNone/>
            </a:pPr>
            <a:r>
              <a:rPr lang="en-US" sz="1400" dirty="0">
                <a:solidFill>
                  <a:srgbClr val="5B6478"/>
                </a:solidFill>
              </a:rPr>
              <a:t>Avis de confidentialité avant toute réponse nominative, durée de conservation choisie par vous, suppression automatique (Loi 25).</a:t>
            </a:r>
            <a:endParaRPr lang="en-US" sz="1400" dirty="0"/>
          </a:p>
        </p:txBody>
      </p:sp>
      <p:sp>
        <p:nvSpPr>
          <p:cNvPr id="19" name="icon-circle"/>
          <p:cNvSpPr/>
          <p:nvPr/>
        </p:nvSpPr>
        <p:spPr>
          <a:xfrm>
            <a:off x="548640" y="4617720"/>
            <a:ext cx="685800" cy="685800"/>
          </a:xfrm>
          <a:prstGeom prst="ellipse">
            <a:avLst/>
          </a:prstGeom>
          <a:solidFill>
            <a:srgbClr val="E7F3EF"/>
          </a:solidFill>
          <a:ln/>
        </p:spPr>
      </p:sp>
      <p:pic>
        <p:nvPicPr>
          <p:cNvPr id="20" name="icon LuLock" descr="preencoded.png">    </p:cNvPr>
          <p:cNvPicPr>
            <a:picLocks noChangeAspect="1"/>
          </p:cNvPicPr>
          <p:nvPr/>
        </p:nvPicPr>
        <p:blipFill>
          <a:blip r:embed="rId5"/>
          <a:stretch>
            <a:fillRect/>
          </a:stretch>
        </p:blipFill>
        <p:spPr>
          <a:xfrm>
            <a:off x="713232" y="4782312"/>
            <a:ext cx="356616" cy="356616"/>
          </a:xfrm>
          <a:prstGeom prst="rect">
            <a:avLst/>
          </a:prstGeom>
        </p:spPr>
      </p:pic>
      <p:sp>
        <p:nvSpPr>
          <p:cNvPr id="21" name="Text 14"/>
          <p:cNvSpPr txBox="1"/>
          <p:nvPr/>
        </p:nvSpPr>
        <p:spPr>
          <a:xfrm>
            <a:off x="1463040" y="452628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Connexion sécurisée</a:t>
            </a:r>
            <a:endParaRPr lang="en-US" sz="1800" dirty="0"/>
          </a:p>
        </p:txBody>
      </p:sp>
      <p:sp>
        <p:nvSpPr>
          <p:cNvPr id="22" name="Text 15"/>
          <p:cNvSpPr txBox="1"/>
          <p:nvPr/>
        </p:nvSpPr>
        <p:spPr>
          <a:xfrm>
            <a:off x="1463040" y="4937760"/>
            <a:ext cx="4480560" cy="914400"/>
          </a:xfrm>
          <a:prstGeom prst="rect">
            <a:avLst/>
          </a:prstGeom>
          <a:noFill/>
          <a:ln/>
        </p:spPr>
        <p:txBody>
          <a:bodyPr wrap="square" lIns="0" tIns="0" rIns="0" bIns="0" rtlCol="0" anchor="t"/>
          <a:lstStyle/>
          <a:p>
            <a:pPr indent="0" marL="0">
              <a:buNone/>
            </a:pPr>
            <a:r>
              <a:rPr lang="en-US" sz="1400" dirty="0">
                <a:solidFill>
                  <a:srgbClr val="5B6478"/>
                </a:solidFill>
              </a:rPr>
              <a:t>Mots de passe chiffrés, connexion HTTPS, comptes désactivables en un clic au départ d'un employé.</a:t>
            </a:r>
            <a:endParaRPr lang="en-US" sz="1400" dirty="0"/>
          </a:p>
        </p:txBody>
      </p:sp>
      <p:sp>
        <p:nvSpPr>
          <p:cNvPr id="23" name="icon-circle"/>
          <p:cNvSpPr/>
          <p:nvPr/>
        </p:nvSpPr>
        <p:spPr>
          <a:xfrm>
            <a:off x="6217920" y="4617720"/>
            <a:ext cx="685800" cy="685800"/>
          </a:xfrm>
          <a:prstGeom prst="ellipse">
            <a:avLst/>
          </a:prstGeom>
          <a:solidFill>
            <a:srgbClr val="E7F3EF"/>
          </a:solidFill>
          <a:ln/>
        </p:spPr>
      </p:sp>
      <p:pic>
        <p:nvPicPr>
          <p:cNvPr id="24" name="icon LuHistory" descr="preencoded.png">    </p:cNvPr>
          <p:cNvPicPr>
            <a:picLocks noChangeAspect="1"/>
          </p:cNvPicPr>
          <p:nvPr/>
        </p:nvPicPr>
        <p:blipFill>
          <a:blip r:embed="rId6"/>
          <a:stretch>
            <a:fillRect/>
          </a:stretch>
        </p:blipFill>
        <p:spPr>
          <a:xfrm>
            <a:off x="6382512" y="4782312"/>
            <a:ext cx="356616" cy="356616"/>
          </a:xfrm>
          <a:prstGeom prst="rect">
            <a:avLst/>
          </a:prstGeom>
        </p:spPr>
      </p:pic>
      <p:sp>
        <p:nvSpPr>
          <p:cNvPr id="25" name="Text 17"/>
          <p:cNvSpPr txBox="1"/>
          <p:nvPr/>
        </p:nvSpPr>
        <p:spPr>
          <a:xfrm>
            <a:off x="7132320" y="4526280"/>
            <a:ext cx="4480560" cy="411480"/>
          </a:xfrm>
          <a:prstGeom prst="rect">
            <a:avLst/>
          </a:prstGeom>
          <a:noFill/>
          <a:ln/>
        </p:spPr>
        <p:txBody>
          <a:bodyPr wrap="square" lIns="0" tIns="0" rIns="0" bIns="0" rtlCol="0" anchor="ctr"/>
          <a:lstStyle/>
          <a:p>
            <a:pPr indent="0" marL="0">
              <a:buNone/>
            </a:pPr>
            <a:r>
              <a:rPr lang="en-US" sz="1800" b="1" dirty="0">
                <a:solidFill>
                  <a:schemeClr val="tx1"/>
                </a:solidFill>
              </a:rPr>
              <a:t>Tout est tracé</a:t>
            </a:r>
            <a:endParaRPr lang="en-US" sz="1800" dirty="0"/>
          </a:p>
        </p:txBody>
      </p:sp>
      <p:sp>
        <p:nvSpPr>
          <p:cNvPr id="26" name="Text 18"/>
          <p:cNvSpPr txBox="1"/>
          <p:nvPr/>
        </p:nvSpPr>
        <p:spPr>
          <a:xfrm>
            <a:off x="7132320" y="4937760"/>
            <a:ext cx="4480560" cy="914400"/>
          </a:xfrm>
          <a:prstGeom prst="rect">
            <a:avLst/>
          </a:prstGeom>
          <a:noFill/>
          <a:ln/>
        </p:spPr>
        <p:txBody>
          <a:bodyPr wrap="square" lIns="0" tIns="0" rIns="0" bIns="0" rtlCol="0" anchor="t"/>
          <a:lstStyle/>
          <a:p>
            <a:pPr indent="0" marL="0">
              <a:buNone/>
            </a:pPr>
            <a:r>
              <a:rPr lang="en-US" sz="1400" dirty="0">
                <a:solidFill>
                  <a:srgbClr val="5B6478"/>
                </a:solidFill>
              </a:rPr>
              <a:t>Un historique de chaque action importante : qui a approuvé, publié, modifié — et quand.</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En place en une journée. Sans projet informatique.</a:t>
            </a:r>
            <a:endParaRPr lang="en-US" sz="3200" dirty="0"/>
          </a:p>
        </p:txBody>
      </p:sp>
      <p:sp>
        <p:nvSpPr>
          <p:cNvPr id="3" name="connector"/>
          <p:cNvSpPr/>
          <p:nvPr/>
        </p:nvSpPr>
        <p:spPr>
          <a:xfrm>
            <a:off x="1783080" y="2103120"/>
            <a:ext cx="2240280" cy="0"/>
          </a:xfrm>
          <a:prstGeom prst="line">
            <a:avLst/>
          </a:prstGeom>
          <a:noFill/>
          <a:ln w="25400">
            <a:solidFill>
              <a:srgbClr val="C7CBD6"/>
            </a:solidFill>
            <a:prstDash val="dash"/>
          </a:ln>
        </p:spPr>
      </p:sp>
      <p:sp>
        <p:nvSpPr>
          <p:cNvPr id="4" name="icon-circle"/>
          <p:cNvSpPr/>
          <p:nvPr/>
        </p:nvSpPr>
        <p:spPr>
          <a:xfrm>
            <a:off x="960120" y="1600200"/>
            <a:ext cx="1005840" cy="1005840"/>
          </a:xfrm>
          <a:prstGeom prst="ellipse">
            <a:avLst/>
          </a:prstGeom>
          <a:solidFill>
            <a:srgbClr val="2F6F5E"/>
          </a:solidFill>
          <a:ln/>
        </p:spPr>
      </p:sp>
      <p:pic>
        <p:nvPicPr>
          <p:cNvPr id="5" name="icon LuSettings" descr="preencoded.png">    </p:cNvPr>
          <p:cNvPicPr>
            <a:picLocks noChangeAspect="1"/>
          </p:cNvPicPr>
          <p:nvPr/>
        </p:nvPicPr>
        <p:blipFill>
          <a:blip r:embed="rId1"/>
          <a:stretch>
            <a:fillRect/>
          </a:stretch>
        </p:blipFill>
        <p:spPr>
          <a:xfrm>
            <a:off x="1201522" y="1841602"/>
            <a:ext cx="523037" cy="523037"/>
          </a:xfrm>
          <a:prstGeom prst="rect">
            <a:avLst/>
          </a:prstGeom>
        </p:spPr>
      </p:pic>
      <p:sp>
        <p:nvSpPr>
          <p:cNvPr id="6" name="Text 3"/>
          <p:cNvSpPr txBox="1"/>
          <p:nvPr/>
        </p:nvSpPr>
        <p:spPr>
          <a:xfrm>
            <a:off x="548640" y="278892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Matin</a:t>
            </a:r>
            <a:endParaRPr lang="en-US" sz="2000" dirty="0"/>
          </a:p>
        </p:txBody>
      </p:sp>
      <p:sp>
        <p:nvSpPr>
          <p:cNvPr id="7" name="Text 4"/>
          <p:cNvSpPr txBox="1"/>
          <p:nvPr/>
        </p:nvSpPr>
        <p:spPr>
          <a:xfrm>
            <a:off x="548640" y="3246120"/>
            <a:ext cx="2560320" cy="1188720"/>
          </a:xfrm>
          <a:prstGeom prst="rect">
            <a:avLst/>
          </a:prstGeom>
          <a:noFill/>
          <a:ln/>
        </p:spPr>
        <p:txBody>
          <a:bodyPr wrap="square" lIns="0" tIns="0" rIns="0" bIns="0" rtlCol="0" anchor="t"/>
          <a:lstStyle/>
          <a:p>
            <a:pPr indent="0" marL="0">
              <a:buNone/>
            </a:pPr>
            <a:r>
              <a:rPr lang="en-US" sz="1500" dirty="0">
                <a:solidFill>
                  <a:srgbClr val="5B6478"/>
                </a:solidFill>
              </a:rPr>
              <a:t>Je crée votre espace avec vous : logo, départements, responsables.</a:t>
            </a:r>
            <a:endParaRPr lang="en-US" sz="1500" dirty="0"/>
          </a:p>
        </p:txBody>
      </p:sp>
      <p:sp>
        <p:nvSpPr>
          <p:cNvPr id="8" name="connector"/>
          <p:cNvSpPr/>
          <p:nvPr/>
        </p:nvSpPr>
        <p:spPr>
          <a:xfrm>
            <a:off x="4617720" y="2103120"/>
            <a:ext cx="2240280" cy="0"/>
          </a:xfrm>
          <a:prstGeom prst="line">
            <a:avLst/>
          </a:prstGeom>
          <a:noFill/>
          <a:ln w="25400">
            <a:solidFill>
              <a:srgbClr val="C7CBD6"/>
            </a:solidFill>
            <a:prstDash val="dash"/>
          </a:ln>
        </p:spPr>
      </p:sp>
      <p:sp>
        <p:nvSpPr>
          <p:cNvPr id="9" name="icon-circle"/>
          <p:cNvSpPr/>
          <p:nvPr/>
        </p:nvSpPr>
        <p:spPr>
          <a:xfrm>
            <a:off x="3794760" y="1600200"/>
            <a:ext cx="1005840" cy="1005840"/>
          </a:xfrm>
          <a:prstGeom prst="ellipse">
            <a:avLst/>
          </a:prstGeom>
          <a:solidFill>
            <a:srgbClr val="2F6F5E"/>
          </a:solidFill>
          <a:ln/>
        </p:spPr>
      </p:sp>
      <p:pic>
        <p:nvPicPr>
          <p:cNvPr id="10" name="icon LuQrCode" descr="preencoded.png">    </p:cNvPr>
          <p:cNvPicPr>
            <a:picLocks noChangeAspect="1"/>
          </p:cNvPicPr>
          <p:nvPr/>
        </p:nvPicPr>
        <p:blipFill>
          <a:blip r:embed="rId2"/>
          <a:stretch>
            <a:fillRect/>
          </a:stretch>
        </p:blipFill>
        <p:spPr>
          <a:xfrm>
            <a:off x="4036162" y="1841602"/>
            <a:ext cx="523037" cy="523037"/>
          </a:xfrm>
          <a:prstGeom prst="rect">
            <a:avLst/>
          </a:prstGeom>
        </p:spPr>
      </p:pic>
      <p:sp>
        <p:nvSpPr>
          <p:cNvPr id="11" name="Text 7"/>
          <p:cNvSpPr txBox="1"/>
          <p:nvPr/>
        </p:nvSpPr>
        <p:spPr>
          <a:xfrm>
            <a:off x="3383280" y="278892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Midi</a:t>
            </a:r>
            <a:endParaRPr lang="en-US" sz="2000" dirty="0"/>
          </a:p>
        </p:txBody>
      </p:sp>
      <p:sp>
        <p:nvSpPr>
          <p:cNvPr id="12" name="Text 8"/>
          <p:cNvSpPr txBox="1"/>
          <p:nvPr/>
        </p:nvSpPr>
        <p:spPr>
          <a:xfrm>
            <a:off x="3383280" y="3246120"/>
            <a:ext cx="2560320" cy="1188720"/>
          </a:xfrm>
          <a:prstGeom prst="rect">
            <a:avLst/>
          </a:prstGeom>
          <a:noFill/>
          <a:ln/>
        </p:spPr>
        <p:txBody>
          <a:bodyPr wrap="square" lIns="0" tIns="0" rIns="0" bIns="0" rtlCol="0" anchor="t"/>
          <a:lstStyle/>
          <a:p>
            <a:pPr indent="0" marL="0">
              <a:buNone/>
            </a:pPr>
            <a:r>
              <a:rPr lang="en-US" sz="1500" dirty="0">
                <a:solidFill>
                  <a:srgbClr val="5B6478"/>
                </a:solidFill>
              </a:rPr>
              <a:t>Un code d'invitation affiché à la cafétéria et sur le babillard.</a:t>
            </a:r>
            <a:endParaRPr lang="en-US" sz="1500" dirty="0"/>
          </a:p>
        </p:txBody>
      </p:sp>
      <p:sp>
        <p:nvSpPr>
          <p:cNvPr id="13" name="connector"/>
          <p:cNvSpPr/>
          <p:nvPr/>
        </p:nvSpPr>
        <p:spPr>
          <a:xfrm>
            <a:off x="7452360" y="2103120"/>
            <a:ext cx="2240280" cy="0"/>
          </a:xfrm>
          <a:prstGeom prst="line">
            <a:avLst/>
          </a:prstGeom>
          <a:noFill/>
          <a:ln w="25400">
            <a:solidFill>
              <a:srgbClr val="C7CBD6"/>
            </a:solidFill>
            <a:prstDash val="dash"/>
          </a:ln>
        </p:spPr>
      </p:sp>
      <p:sp>
        <p:nvSpPr>
          <p:cNvPr id="14" name="icon-circle"/>
          <p:cNvSpPr/>
          <p:nvPr/>
        </p:nvSpPr>
        <p:spPr>
          <a:xfrm>
            <a:off x="6629400" y="1600200"/>
            <a:ext cx="1005840" cy="1005840"/>
          </a:xfrm>
          <a:prstGeom prst="ellipse">
            <a:avLst/>
          </a:prstGeom>
          <a:solidFill>
            <a:srgbClr val="2F6F5E"/>
          </a:solidFill>
          <a:ln/>
        </p:spPr>
      </p:sp>
      <p:pic>
        <p:nvPicPr>
          <p:cNvPr id="15" name="icon LuSmartphone" descr="preencoded.png">    </p:cNvPr>
          <p:cNvPicPr>
            <a:picLocks noChangeAspect="1"/>
          </p:cNvPicPr>
          <p:nvPr/>
        </p:nvPicPr>
        <p:blipFill>
          <a:blip r:embed="rId3"/>
          <a:stretch>
            <a:fillRect/>
          </a:stretch>
        </p:blipFill>
        <p:spPr>
          <a:xfrm>
            <a:off x="6870802" y="1841602"/>
            <a:ext cx="523037" cy="523037"/>
          </a:xfrm>
          <a:prstGeom prst="rect">
            <a:avLst/>
          </a:prstGeom>
        </p:spPr>
      </p:pic>
      <p:sp>
        <p:nvSpPr>
          <p:cNvPr id="16" name="Text 11"/>
          <p:cNvSpPr txBox="1"/>
          <p:nvPr/>
        </p:nvSpPr>
        <p:spPr>
          <a:xfrm>
            <a:off x="6217920" y="278892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Après-midi</a:t>
            </a:r>
            <a:endParaRPr lang="en-US" sz="2000" dirty="0"/>
          </a:p>
        </p:txBody>
      </p:sp>
      <p:sp>
        <p:nvSpPr>
          <p:cNvPr id="17" name="Text 12"/>
          <p:cNvSpPr txBox="1"/>
          <p:nvPr/>
        </p:nvSpPr>
        <p:spPr>
          <a:xfrm>
            <a:off x="6217920" y="3246120"/>
            <a:ext cx="2560320" cy="1188720"/>
          </a:xfrm>
          <a:prstGeom prst="rect">
            <a:avLst/>
          </a:prstGeom>
          <a:noFill/>
          <a:ln/>
        </p:spPr>
        <p:txBody>
          <a:bodyPr wrap="square" lIns="0" tIns="0" rIns="0" bIns="0" rtlCol="0" anchor="t"/>
          <a:lstStyle/>
          <a:p>
            <a:pPr indent="0" marL="0">
              <a:buNone/>
            </a:pPr>
            <a:r>
              <a:rPr lang="en-US" sz="1500" dirty="0">
                <a:solidFill>
                  <a:srgbClr val="5B6478"/>
                </a:solidFill>
              </a:rPr>
              <a:t>Chaque employé s'inscrit en 2 minutes et choisit son équipe.</a:t>
            </a:r>
            <a:endParaRPr lang="en-US" sz="1500" dirty="0"/>
          </a:p>
        </p:txBody>
      </p:sp>
      <p:sp>
        <p:nvSpPr>
          <p:cNvPr id="18" name="icon-circle"/>
          <p:cNvSpPr/>
          <p:nvPr/>
        </p:nvSpPr>
        <p:spPr>
          <a:xfrm>
            <a:off x="9464040" y="1600200"/>
            <a:ext cx="1005840" cy="1005840"/>
          </a:xfrm>
          <a:prstGeom prst="ellipse">
            <a:avLst/>
          </a:prstGeom>
          <a:solidFill>
            <a:srgbClr val="E0A43A"/>
          </a:solidFill>
          <a:ln/>
        </p:spPr>
      </p:sp>
      <p:pic>
        <p:nvPicPr>
          <p:cNvPr id="19" name="icon LuRocket" descr="preencoded.png">    </p:cNvPr>
          <p:cNvPicPr>
            <a:picLocks noChangeAspect="1"/>
          </p:cNvPicPr>
          <p:nvPr/>
        </p:nvPicPr>
        <p:blipFill>
          <a:blip r:embed="rId4"/>
          <a:stretch>
            <a:fillRect/>
          </a:stretch>
        </p:blipFill>
        <p:spPr>
          <a:xfrm>
            <a:off x="9705442" y="1841602"/>
            <a:ext cx="523037" cy="523037"/>
          </a:xfrm>
          <a:prstGeom prst="rect">
            <a:avLst/>
          </a:prstGeom>
        </p:spPr>
      </p:pic>
      <p:sp>
        <p:nvSpPr>
          <p:cNvPr id="20" name="Text 14"/>
          <p:cNvSpPr txBox="1"/>
          <p:nvPr/>
        </p:nvSpPr>
        <p:spPr>
          <a:xfrm>
            <a:off x="9052560" y="278892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Le lendemain</a:t>
            </a:r>
            <a:endParaRPr lang="en-US" sz="2000" dirty="0"/>
          </a:p>
        </p:txBody>
      </p:sp>
      <p:sp>
        <p:nvSpPr>
          <p:cNvPr id="21" name="Text 15"/>
          <p:cNvSpPr txBox="1"/>
          <p:nvPr/>
        </p:nvSpPr>
        <p:spPr>
          <a:xfrm>
            <a:off x="9052560" y="3246120"/>
            <a:ext cx="2560320" cy="1188720"/>
          </a:xfrm>
          <a:prstGeom prst="rect">
            <a:avLst/>
          </a:prstGeom>
          <a:noFill/>
          <a:ln/>
        </p:spPr>
        <p:txBody>
          <a:bodyPr wrap="square" lIns="0" tIns="0" rIns="0" bIns="0" rtlCol="0" anchor="t"/>
          <a:lstStyle/>
          <a:p>
            <a:pPr indent="0" marL="0">
              <a:buNone/>
            </a:pPr>
            <a:r>
              <a:rPr lang="en-US" sz="1500" dirty="0">
                <a:solidFill>
                  <a:srgbClr val="5B6478"/>
                </a:solidFill>
              </a:rPr>
              <a:t>Les demandes arrivent, les annonces partent, le tableau de bord se remplit.</a:t>
            </a:r>
            <a:endParaRPr lang="en-US" sz="1500" dirty="0"/>
          </a:p>
        </p:txBody>
      </p:sp>
      <p:sp>
        <p:nvSpPr>
          <p:cNvPr id="22" name="pill"/>
          <p:cNvSpPr/>
          <p:nvPr/>
        </p:nvSpPr>
        <p:spPr>
          <a:xfrm>
            <a:off x="548640" y="4892040"/>
            <a:ext cx="3474720" cy="777240"/>
          </a:xfrm>
          <a:prstGeom prst="roundRect">
            <a:avLst>
              <a:gd name="adj" fmla="val 14118"/>
            </a:avLst>
          </a:prstGeom>
          <a:solidFill>
            <a:srgbClr val="E7F3EF"/>
          </a:solidFill>
          <a:ln/>
        </p:spPr>
      </p:sp>
      <p:pic>
        <p:nvPicPr>
          <p:cNvPr id="23" name="check" descr="preencoded.png">    </p:cNvPr>
          <p:cNvPicPr>
            <a:picLocks noChangeAspect="1"/>
          </p:cNvPicPr>
          <p:nvPr/>
        </p:nvPicPr>
        <p:blipFill>
          <a:blip r:embed="rId5"/>
          <a:stretch>
            <a:fillRect/>
          </a:stretch>
        </p:blipFill>
        <p:spPr>
          <a:xfrm>
            <a:off x="777240" y="5093208"/>
            <a:ext cx="365760" cy="365760"/>
          </a:xfrm>
          <a:prstGeom prst="rect">
            <a:avLst/>
          </a:prstGeom>
        </p:spPr>
      </p:pic>
      <p:sp>
        <p:nvSpPr>
          <p:cNvPr id="24" name="Text 17"/>
          <p:cNvSpPr txBox="1"/>
          <p:nvPr/>
        </p:nvSpPr>
        <p:spPr>
          <a:xfrm>
            <a:off x="1280160" y="4892040"/>
            <a:ext cx="2651760" cy="777240"/>
          </a:xfrm>
          <a:prstGeom prst="rect">
            <a:avLst/>
          </a:prstGeom>
          <a:noFill/>
          <a:ln/>
        </p:spPr>
        <p:txBody>
          <a:bodyPr wrap="square" lIns="0" tIns="0" rIns="0" bIns="0" rtlCol="0" anchor="ctr"/>
          <a:lstStyle/>
          <a:p>
            <a:pPr indent="0" marL="0">
              <a:buNone/>
            </a:pPr>
            <a:r>
              <a:rPr lang="en-US" sz="1400" b="1" dirty="0">
                <a:solidFill>
                  <a:schemeClr val="tx1"/>
                </a:solidFill>
              </a:rPr>
              <a:t>Aucune application à télécharger dans un magasin</a:t>
            </a:r>
            <a:endParaRPr lang="en-US" sz="1400" dirty="0"/>
          </a:p>
        </p:txBody>
      </p:sp>
      <p:sp>
        <p:nvSpPr>
          <p:cNvPr id="25" name="pill"/>
          <p:cNvSpPr/>
          <p:nvPr/>
        </p:nvSpPr>
        <p:spPr>
          <a:xfrm>
            <a:off x="4297680" y="4892040"/>
            <a:ext cx="3474720" cy="777240"/>
          </a:xfrm>
          <a:prstGeom prst="roundRect">
            <a:avLst>
              <a:gd name="adj" fmla="val 14118"/>
            </a:avLst>
          </a:prstGeom>
          <a:solidFill>
            <a:srgbClr val="E7F3EF"/>
          </a:solidFill>
          <a:ln/>
        </p:spPr>
      </p:sp>
      <p:pic>
        <p:nvPicPr>
          <p:cNvPr id="26" name="check" descr="preencoded.png">    </p:cNvPr>
          <p:cNvPicPr>
            <a:picLocks noChangeAspect="1"/>
          </p:cNvPicPr>
          <p:nvPr/>
        </p:nvPicPr>
        <p:blipFill>
          <a:blip r:embed="rId6"/>
          <a:stretch>
            <a:fillRect/>
          </a:stretch>
        </p:blipFill>
        <p:spPr>
          <a:xfrm>
            <a:off x="4526280" y="5093208"/>
            <a:ext cx="365760" cy="365760"/>
          </a:xfrm>
          <a:prstGeom prst="rect">
            <a:avLst/>
          </a:prstGeom>
        </p:spPr>
      </p:pic>
      <p:sp>
        <p:nvSpPr>
          <p:cNvPr id="27" name="Text 19"/>
          <p:cNvSpPr txBox="1"/>
          <p:nvPr/>
        </p:nvSpPr>
        <p:spPr>
          <a:xfrm>
            <a:off x="5029200" y="4892040"/>
            <a:ext cx="2651760" cy="777240"/>
          </a:xfrm>
          <a:prstGeom prst="rect">
            <a:avLst/>
          </a:prstGeom>
          <a:noFill/>
          <a:ln/>
        </p:spPr>
        <p:txBody>
          <a:bodyPr wrap="square" lIns="0" tIns="0" rIns="0" bIns="0" rtlCol="0" anchor="ctr"/>
          <a:lstStyle/>
          <a:p>
            <a:pPr indent="0" marL="0">
              <a:buNone/>
            </a:pPr>
            <a:r>
              <a:rPr lang="en-US" sz="1400" b="1" dirty="0">
                <a:solidFill>
                  <a:schemeClr val="tx1"/>
                </a:solidFill>
              </a:rPr>
              <a:t>Fonctionne sur iPhone, Android et ordinateur</a:t>
            </a:r>
            <a:endParaRPr lang="en-US" sz="1400" dirty="0"/>
          </a:p>
        </p:txBody>
      </p:sp>
      <p:sp>
        <p:nvSpPr>
          <p:cNvPr id="28" name="pill"/>
          <p:cNvSpPr/>
          <p:nvPr/>
        </p:nvSpPr>
        <p:spPr>
          <a:xfrm>
            <a:off x="8046720" y="4892040"/>
            <a:ext cx="3474720" cy="777240"/>
          </a:xfrm>
          <a:prstGeom prst="roundRect">
            <a:avLst>
              <a:gd name="adj" fmla="val 14118"/>
            </a:avLst>
          </a:prstGeom>
          <a:solidFill>
            <a:srgbClr val="E7F3EF"/>
          </a:solidFill>
          <a:ln/>
        </p:spPr>
      </p:sp>
      <p:pic>
        <p:nvPicPr>
          <p:cNvPr id="29" name="check" descr="preencoded.png">    </p:cNvPr>
          <p:cNvPicPr>
            <a:picLocks noChangeAspect="1"/>
          </p:cNvPicPr>
          <p:nvPr/>
        </p:nvPicPr>
        <p:blipFill>
          <a:blip r:embed="rId7"/>
          <a:stretch>
            <a:fillRect/>
          </a:stretch>
        </p:blipFill>
        <p:spPr>
          <a:xfrm>
            <a:off x="8275320" y="5093208"/>
            <a:ext cx="365760" cy="365760"/>
          </a:xfrm>
          <a:prstGeom prst="rect">
            <a:avLst/>
          </a:prstGeom>
        </p:spPr>
      </p:pic>
      <p:sp>
        <p:nvSpPr>
          <p:cNvPr id="30" name="Text 21"/>
          <p:cNvSpPr txBox="1"/>
          <p:nvPr/>
        </p:nvSpPr>
        <p:spPr>
          <a:xfrm>
            <a:off x="8778240" y="4892040"/>
            <a:ext cx="2651760" cy="777240"/>
          </a:xfrm>
          <a:prstGeom prst="rect">
            <a:avLst/>
          </a:prstGeom>
          <a:noFill/>
          <a:ln/>
        </p:spPr>
        <p:txBody>
          <a:bodyPr wrap="square" lIns="0" tIns="0" rIns="0" bIns="0" rtlCol="0" anchor="ctr"/>
          <a:lstStyle/>
          <a:p>
            <a:pPr indent="0" marL="0">
              <a:buNone/>
            </a:pPr>
            <a:r>
              <a:rPr lang="en-US" sz="1400" b="1" dirty="0">
                <a:solidFill>
                  <a:schemeClr val="tx1"/>
                </a:solidFill>
              </a:rPr>
              <a:t>Aucun serveur à installer chez vous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Ce qui change dans 90 jours</a:t>
            </a:r>
            <a:endParaRPr lang="en-US" sz="3200" dirty="0"/>
          </a:p>
        </p:txBody>
      </p:sp>
      <p:sp>
        <p:nvSpPr>
          <p:cNvPr id="3" name="before"/>
          <p:cNvSpPr/>
          <p:nvPr/>
        </p:nvSpPr>
        <p:spPr>
          <a:xfrm>
            <a:off x="548640" y="1417320"/>
            <a:ext cx="5349240" cy="4480560"/>
          </a:xfrm>
          <a:prstGeom prst="roundRect">
            <a:avLst>
              <a:gd name="adj" fmla="val 2449"/>
            </a:avLst>
          </a:prstGeom>
          <a:solidFill>
            <a:srgbClr val="F4F4F6"/>
          </a:solidFill>
          <a:ln/>
        </p:spPr>
      </p:sp>
      <p:sp>
        <p:nvSpPr>
          <p:cNvPr id="4" name="after"/>
          <p:cNvSpPr/>
          <p:nvPr/>
        </p:nvSpPr>
        <p:spPr>
          <a:xfrm>
            <a:off x="6263640" y="1417320"/>
            <a:ext cx="5349240" cy="4480560"/>
          </a:xfrm>
          <a:prstGeom prst="roundRect">
            <a:avLst>
              <a:gd name="adj" fmla="val 2449"/>
            </a:avLst>
          </a:prstGeom>
          <a:solidFill>
            <a:srgbClr val="E7F3EF"/>
          </a:solidFill>
          <a:ln/>
        </p:spPr>
      </p:sp>
      <p:sp>
        <p:nvSpPr>
          <p:cNvPr id="5" name="Text 3"/>
          <p:cNvSpPr txBox="1"/>
          <p:nvPr/>
        </p:nvSpPr>
        <p:spPr>
          <a:xfrm>
            <a:off x="868680" y="1645920"/>
            <a:ext cx="4572000" cy="411480"/>
          </a:xfrm>
          <a:prstGeom prst="rect">
            <a:avLst/>
          </a:prstGeom>
          <a:noFill/>
          <a:ln/>
        </p:spPr>
        <p:txBody>
          <a:bodyPr wrap="square" lIns="0" tIns="0" rIns="0" bIns="0" rtlCol="0" anchor="ctr"/>
          <a:lstStyle/>
          <a:p>
            <a:pPr indent="0" marL="0">
              <a:buNone/>
            </a:pPr>
            <a:r>
              <a:rPr lang="en-US" sz="1600" b="1" spc="200" kern="0" dirty="0">
                <a:solidFill>
                  <a:srgbClr val="5B6478"/>
                </a:solidFill>
              </a:rPr>
              <a:t>AVANT</a:t>
            </a:r>
            <a:endParaRPr lang="en-US" sz="1600" dirty="0"/>
          </a:p>
        </p:txBody>
      </p:sp>
      <p:sp>
        <p:nvSpPr>
          <p:cNvPr id="6" name="Text 4"/>
          <p:cNvSpPr txBox="1"/>
          <p:nvPr/>
        </p:nvSpPr>
        <p:spPr>
          <a:xfrm>
            <a:off x="6583680" y="1645920"/>
            <a:ext cx="4572000" cy="411480"/>
          </a:xfrm>
          <a:prstGeom prst="rect">
            <a:avLst/>
          </a:prstGeom>
          <a:noFill/>
          <a:ln/>
        </p:spPr>
        <p:txBody>
          <a:bodyPr wrap="square" lIns="0" tIns="0" rIns="0" bIns="0" rtlCol="0" anchor="ctr"/>
          <a:lstStyle/>
          <a:p>
            <a:pPr indent="0" marL="0">
              <a:buNone/>
            </a:pPr>
            <a:r>
              <a:rPr lang="en-US" sz="1600" b="1" spc="200" kern="0" dirty="0">
                <a:solidFill>
                  <a:schemeClr val="accent1"/>
                </a:solidFill>
              </a:rPr>
              <a:t>AVEC MINDMATE</a:t>
            </a:r>
            <a:endParaRPr lang="en-US" sz="1600" dirty="0"/>
          </a:p>
        </p:txBody>
      </p:sp>
      <p:pic>
        <p:nvPicPr>
          <p:cNvPr id="7" name="x" descr="preencoded.png">    </p:cNvPr>
          <p:cNvPicPr>
            <a:picLocks noChangeAspect="1"/>
          </p:cNvPicPr>
          <p:nvPr/>
        </p:nvPicPr>
        <p:blipFill>
          <a:blip r:embed="rId1"/>
          <a:stretch>
            <a:fillRect/>
          </a:stretch>
        </p:blipFill>
        <p:spPr>
          <a:xfrm>
            <a:off x="868680" y="2295144"/>
            <a:ext cx="292608" cy="292608"/>
          </a:xfrm>
          <a:prstGeom prst="rect">
            <a:avLst/>
          </a:prstGeom>
        </p:spPr>
      </p:pic>
      <p:sp>
        <p:nvSpPr>
          <p:cNvPr id="8" name="Text 5"/>
          <p:cNvSpPr txBox="1"/>
          <p:nvPr/>
        </p:nvSpPr>
        <p:spPr>
          <a:xfrm>
            <a:off x="1325880" y="2240280"/>
            <a:ext cx="4389120" cy="621792"/>
          </a:xfrm>
          <a:prstGeom prst="rect">
            <a:avLst/>
          </a:prstGeom>
          <a:noFill/>
          <a:ln/>
        </p:spPr>
        <p:txBody>
          <a:bodyPr wrap="square" lIns="0" tIns="0" rIns="0" bIns="0" rtlCol="0" anchor="t"/>
          <a:lstStyle/>
          <a:p>
            <a:pPr indent="0" marL="0">
              <a:buNone/>
            </a:pPr>
            <a:r>
              <a:rPr lang="en-US" sz="1500" dirty="0">
                <a:solidFill>
                  <a:srgbClr val="5B6478"/>
                </a:solidFill>
              </a:rPr>
              <a:t>Des absences par texto, oubliées ou approuvées deux fois</a:t>
            </a:r>
            <a:endParaRPr lang="en-US" sz="1500" dirty="0"/>
          </a:p>
        </p:txBody>
      </p:sp>
      <p:pic>
        <p:nvPicPr>
          <p:cNvPr id="9" name="check" descr="preencoded.png">    </p:cNvPr>
          <p:cNvPicPr>
            <a:picLocks noChangeAspect="1"/>
          </p:cNvPicPr>
          <p:nvPr/>
        </p:nvPicPr>
        <p:blipFill>
          <a:blip r:embed="rId2"/>
          <a:stretch>
            <a:fillRect/>
          </a:stretch>
        </p:blipFill>
        <p:spPr>
          <a:xfrm>
            <a:off x="6583680" y="2295144"/>
            <a:ext cx="292608" cy="292608"/>
          </a:xfrm>
          <a:prstGeom prst="rect">
            <a:avLst/>
          </a:prstGeom>
        </p:spPr>
      </p:pic>
      <p:sp>
        <p:nvSpPr>
          <p:cNvPr id="10" name="Text 6"/>
          <p:cNvSpPr txBox="1"/>
          <p:nvPr/>
        </p:nvSpPr>
        <p:spPr>
          <a:xfrm>
            <a:off x="7040880" y="2240280"/>
            <a:ext cx="4389120" cy="621792"/>
          </a:xfrm>
          <a:prstGeom prst="rect">
            <a:avLst/>
          </a:prstGeom>
          <a:noFill/>
          <a:ln/>
        </p:spPr>
        <p:txBody>
          <a:bodyPr wrap="square" lIns="0" tIns="0" rIns="0" bIns="0" rtlCol="0" anchor="t"/>
          <a:lstStyle/>
          <a:p>
            <a:pPr indent="0" marL="0">
              <a:buNone/>
            </a:pPr>
            <a:r>
              <a:rPr lang="en-US" sz="1500" b="1" dirty="0">
                <a:solidFill>
                  <a:schemeClr val="tx1"/>
                </a:solidFill>
              </a:rPr>
              <a:t>Chaque demande tracée, approuvée par la bonne personne</a:t>
            </a:r>
            <a:endParaRPr lang="en-US" sz="1500" dirty="0"/>
          </a:p>
        </p:txBody>
      </p:sp>
      <p:pic>
        <p:nvPicPr>
          <p:cNvPr id="11" name="x" descr="preencoded.png">    </p:cNvPr>
          <p:cNvPicPr>
            <a:picLocks noChangeAspect="1"/>
          </p:cNvPicPr>
          <p:nvPr/>
        </p:nvPicPr>
        <p:blipFill>
          <a:blip r:embed="rId3"/>
          <a:stretch>
            <a:fillRect/>
          </a:stretch>
        </p:blipFill>
        <p:spPr>
          <a:xfrm>
            <a:off x="868680" y="3008376"/>
            <a:ext cx="292608" cy="292608"/>
          </a:xfrm>
          <a:prstGeom prst="rect">
            <a:avLst/>
          </a:prstGeom>
        </p:spPr>
      </p:pic>
      <p:sp>
        <p:nvSpPr>
          <p:cNvPr id="12" name="Text 7"/>
          <p:cNvSpPr txBox="1"/>
          <p:nvPr/>
        </p:nvSpPr>
        <p:spPr>
          <a:xfrm>
            <a:off x="1325880" y="2953512"/>
            <a:ext cx="4389120" cy="621792"/>
          </a:xfrm>
          <a:prstGeom prst="rect">
            <a:avLst/>
          </a:prstGeom>
          <a:noFill/>
          <a:ln/>
        </p:spPr>
        <p:txBody>
          <a:bodyPr wrap="square" lIns="0" tIns="0" rIns="0" bIns="0" rtlCol="0" anchor="t"/>
          <a:lstStyle/>
          <a:p>
            <a:pPr indent="0" marL="0">
              <a:buNone/>
            </a:pPr>
            <a:r>
              <a:rPr lang="en-US" sz="1500" dirty="0">
                <a:solidFill>
                  <a:srgbClr val="5B6478"/>
                </a:solidFill>
              </a:rPr>
              <a:t>Des papiers sur un babillard que la moitié ne lit pas</a:t>
            </a:r>
            <a:endParaRPr lang="en-US" sz="1500" dirty="0"/>
          </a:p>
        </p:txBody>
      </p:sp>
      <p:pic>
        <p:nvPicPr>
          <p:cNvPr id="13" name="check" descr="preencoded.png">    </p:cNvPr>
          <p:cNvPicPr>
            <a:picLocks noChangeAspect="1"/>
          </p:cNvPicPr>
          <p:nvPr/>
        </p:nvPicPr>
        <p:blipFill>
          <a:blip r:embed="rId4"/>
          <a:stretch>
            <a:fillRect/>
          </a:stretch>
        </p:blipFill>
        <p:spPr>
          <a:xfrm>
            <a:off x="6583680" y="3008376"/>
            <a:ext cx="292608" cy="292608"/>
          </a:xfrm>
          <a:prstGeom prst="rect">
            <a:avLst/>
          </a:prstGeom>
        </p:spPr>
      </p:pic>
      <p:sp>
        <p:nvSpPr>
          <p:cNvPr id="14" name="Text 8"/>
          <p:cNvSpPr txBox="1"/>
          <p:nvPr/>
        </p:nvSpPr>
        <p:spPr>
          <a:xfrm>
            <a:off x="7040880" y="2953512"/>
            <a:ext cx="4389120" cy="621792"/>
          </a:xfrm>
          <a:prstGeom prst="rect">
            <a:avLst/>
          </a:prstGeom>
          <a:noFill/>
          <a:ln/>
        </p:spPr>
        <p:txBody>
          <a:bodyPr wrap="square" lIns="0" tIns="0" rIns="0" bIns="0" rtlCol="0" anchor="t"/>
          <a:lstStyle/>
          <a:p>
            <a:pPr indent="0" marL="0">
              <a:buNone/>
            </a:pPr>
            <a:r>
              <a:rPr lang="en-US" sz="1500" b="1" dirty="0">
                <a:solidFill>
                  <a:schemeClr val="tx1"/>
                </a:solidFill>
              </a:rPr>
              <a:t>Chaque employé informé sur son téléphone</a:t>
            </a:r>
            <a:endParaRPr lang="en-US" sz="1500" dirty="0"/>
          </a:p>
        </p:txBody>
      </p:sp>
      <p:pic>
        <p:nvPicPr>
          <p:cNvPr id="15" name="x" descr="preencoded.png">    </p:cNvPr>
          <p:cNvPicPr>
            <a:picLocks noChangeAspect="1"/>
          </p:cNvPicPr>
          <p:nvPr/>
        </p:nvPicPr>
        <p:blipFill>
          <a:blip r:embed="rId5"/>
          <a:stretch>
            <a:fillRect/>
          </a:stretch>
        </p:blipFill>
        <p:spPr>
          <a:xfrm>
            <a:off x="868680" y="3721608"/>
            <a:ext cx="292608" cy="292608"/>
          </a:xfrm>
          <a:prstGeom prst="rect">
            <a:avLst/>
          </a:prstGeom>
        </p:spPr>
      </p:pic>
      <p:sp>
        <p:nvSpPr>
          <p:cNvPr id="16" name="Text 9"/>
          <p:cNvSpPr txBox="1"/>
          <p:nvPr/>
        </p:nvSpPr>
        <p:spPr>
          <a:xfrm>
            <a:off x="1325880" y="3666744"/>
            <a:ext cx="4389120" cy="621792"/>
          </a:xfrm>
          <a:prstGeom prst="rect">
            <a:avLst/>
          </a:prstGeom>
          <a:noFill/>
          <a:ln/>
        </p:spPr>
        <p:txBody>
          <a:bodyPr wrap="square" lIns="0" tIns="0" rIns="0" bIns="0" rtlCol="0" anchor="t"/>
          <a:lstStyle/>
          <a:p>
            <a:pPr indent="0" marL="0">
              <a:buNone/>
            </a:pPr>
            <a:r>
              <a:rPr lang="en-US" sz="1500" dirty="0">
                <a:solidFill>
                  <a:srgbClr val="5B6478"/>
                </a:solidFill>
              </a:rPr>
              <a:t>Des problèmes qu'on découvre trop tard</a:t>
            </a:r>
            <a:endParaRPr lang="en-US" sz="1500" dirty="0"/>
          </a:p>
        </p:txBody>
      </p:sp>
      <p:pic>
        <p:nvPicPr>
          <p:cNvPr id="17" name="check" descr="preencoded.png">    </p:cNvPr>
          <p:cNvPicPr>
            <a:picLocks noChangeAspect="1"/>
          </p:cNvPicPr>
          <p:nvPr/>
        </p:nvPicPr>
        <p:blipFill>
          <a:blip r:embed="rId6"/>
          <a:stretch>
            <a:fillRect/>
          </a:stretch>
        </p:blipFill>
        <p:spPr>
          <a:xfrm>
            <a:off x="6583680" y="3721608"/>
            <a:ext cx="292608" cy="292608"/>
          </a:xfrm>
          <a:prstGeom prst="rect">
            <a:avLst/>
          </a:prstGeom>
        </p:spPr>
      </p:pic>
      <p:sp>
        <p:nvSpPr>
          <p:cNvPr id="18" name="Text 10"/>
          <p:cNvSpPr txBox="1"/>
          <p:nvPr/>
        </p:nvSpPr>
        <p:spPr>
          <a:xfrm>
            <a:off x="7040880" y="3666744"/>
            <a:ext cx="4389120" cy="621792"/>
          </a:xfrm>
          <a:prstGeom prst="rect">
            <a:avLst/>
          </a:prstGeom>
          <a:noFill/>
          <a:ln/>
        </p:spPr>
        <p:txBody>
          <a:bodyPr wrap="square" lIns="0" tIns="0" rIns="0" bIns="0" rtlCol="0" anchor="t"/>
          <a:lstStyle/>
          <a:p>
            <a:pPr indent="0" marL="0">
              <a:buNone/>
            </a:pPr>
            <a:r>
              <a:rPr lang="en-US" sz="1500" b="1" dirty="0">
                <a:solidFill>
                  <a:schemeClr val="tx1"/>
                </a:solidFill>
              </a:rPr>
              <a:t>Des signalements et des sondages qui parlent tôt</a:t>
            </a:r>
            <a:endParaRPr lang="en-US" sz="1500" dirty="0"/>
          </a:p>
        </p:txBody>
      </p:sp>
      <p:pic>
        <p:nvPicPr>
          <p:cNvPr id="19" name="x" descr="preencoded.png">    </p:cNvPr>
          <p:cNvPicPr>
            <a:picLocks noChangeAspect="1"/>
          </p:cNvPicPr>
          <p:nvPr/>
        </p:nvPicPr>
        <p:blipFill>
          <a:blip r:embed="rId7"/>
          <a:stretch>
            <a:fillRect/>
          </a:stretch>
        </p:blipFill>
        <p:spPr>
          <a:xfrm>
            <a:off x="868680" y="4434840"/>
            <a:ext cx="292608" cy="292608"/>
          </a:xfrm>
          <a:prstGeom prst="rect">
            <a:avLst/>
          </a:prstGeom>
        </p:spPr>
      </p:pic>
      <p:sp>
        <p:nvSpPr>
          <p:cNvPr id="20" name="Text 11"/>
          <p:cNvSpPr txBox="1"/>
          <p:nvPr/>
        </p:nvSpPr>
        <p:spPr>
          <a:xfrm>
            <a:off x="1325880" y="4379976"/>
            <a:ext cx="4389120" cy="621792"/>
          </a:xfrm>
          <a:prstGeom prst="rect">
            <a:avLst/>
          </a:prstGeom>
          <a:noFill/>
          <a:ln/>
        </p:spPr>
        <p:txBody>
          <a:bodyPr wrap="square" lIns="0" tIns="0" rIns="0" bIns="0" rtlCol="0" anchor="t"/>
          <a:lstStyle/>
          <a:p>
            <a:pPr indent="0" marL="0">
              <a:buNone/>
            </a:pPr>
            <a:r>
              <a:rPr lang="en-US" sz="1500" dirty="0">
                <a:solidFill>
                  <a:srgbClr val="5B6478"/>
                </a:solidFill>
              </a:rPr>
              <a:t>Des départs qu'on ne comprend pas</a:t>
            </a:r>
            <a:endParaRPr lang="en-US" sz="1500" dirty="0"/>
          </a:p>
        </p:txBody>
      </p:sp>
      <p:pic>
        <p:nvPicPr>
          <p:cNvPr id="21" name="check" descr="preencoded.png">    </p:cNvPr>
          <p:cNvPicPr>
            <a:picLocks noChangeAspect="1"/>
          </p:cNvPicPr>
          <p:nvPr/>
        </p:nvPicPr>
        <p:blipFill>
          <a:blip r:embed="rId8"/>
          <a:stretch>
            <a:fillRect/>
          </a:stretch>
        </p:blipFill>
        <p:spPr>
          <a:xfrm>
            <a:off x="6583680" y="4434840"/>
            <a:ext cx="292608" cy="292608"/>
          </a:xfrm>
          <a:prstGeom prst="rect">
            <a:avLst/>
          </a:prstGeom>
        </p:spPr>
      </p:pic>
      <p:sp>
        <p:nvSpPr>
          <p:cNvPr id="22" name="Text 12"/>
          <p:cNvSpPr txBox="1"/>
          <p:nvPr/>
        </p:nvSpPr>
        <p:spPr>
          <a:xfrm>
            <a:off x="7040880" y="4379976"/>
            <a:ext cx="4389120" cy="621792"/>
          </a:xfrm>
          <a:prstGeom prst="rect">
            <a:avLst/>
          </a:prstGeom>
          <a:noFill/>
          <a:ln/>
        </p:spPr>
        <p:txBody>
          <a:bodyPr wrap="square" lIns="0" tIns="0" rIns="0" bIns="0" rtlCol="0" anchor="t"/>
          <a:lstStyle/>
          <a:p>
            <a:pPr indent="0" marL="0">
              <a:buNone/>
            </a:pPr>
            <a:r>
              <a:rPr lang="en-US" sz="1500" b="1" dirty="0">
                <a:solidFill>
                  <a:schemeClr val="tx1"/>
                </a:solidFill>
              </a:rPr>
              <a:t>Les vraies raisons de départ, par département</a:t>
            </a:r>
            <a:endParaRPr lang="en-US" sz="1500" dirty="0"/>
          </a:p>
        </p:txBody>
      </p:sp>
      <p:pic>
        <p:nvPicPr>
          <p:cNvPr id="23" name="x" descr="preencoded.png">    </p:cNvPr>
          <p:cNvPicPr>
            <a:picLocks noChangeAspect="1"/>
          </p:cNvPicPr>
          <p:nvPr/>
        </p:nvPicPr>
        <p:blipFill>
          <a:blip r:embed="rId9"/>
          <a:stretch>
            <a:fillRect/>
          </a:stretch>
        </p:blipFill>
        <p:spPr>
          <a:xfrm>
            <a:off x="868680" y="5148072"/>
            <a:ext cx="292608" cy="292608"/>
          </a:xfrm>
          <a:prstGeom prst="rect">
            <a:avLst/>
          </a:prstGeom>
        </p:spPr>
      </p:pic>
      <p:sp>
        <p:nvSpPr>
          <p:cNvPr id="24" name="Text 13"/>
          <p:cNvSpPr txBox="1"/>
          <p:nvPr/>
        </p:nvSpPr>
        <p:spPr>
          <a:xfrm>
            <a:off x="1325880" y="5093208"/>
            <a:ext cx="4389120" cy="621792"/>
          </a:xfrm>
          <a:prstGeom prst="rect">
            <a:avLst/>
          </a:prstGeom>
          <a:noFill/>
          <a:ln/>
        </p:spPr>
        <p:txBody>
          <a:bodyPr wrap="square" lIns="0" tIns="0" rIns="0" bIns="0" rtlCol="0" anchor="t"/>
          <a:lstStyle/>
          <a:p>
            <a:pPr indent="0" marL="0">
              <a:buNone/>
            </a:pPr>
            <a:r>
              <a:rPr lang="en-US" sz="1500" dirty="0">
                <a:solidFill>
                  <a:srgbClr val="5B6478"/>
                </a:solidFill>
              </a:rPr>
              <a:t>L'information qui se perd entre deux quarts</a:t>
            </a:r>
            <a:endParaRPr lang="en-US" sz="1500" dirty="0"/>
          </a:p>
        </p:txBody>
      </p:sp>
      <p:pic>
        <p:nvPicPr>
          <p:cNvPr id="25" name="check" descr="preencoded.png">    </p:cNvPr>
          <p:cNvPicPr>
            <a:picLocks noChangeAspect="1"/>
          </p:cNvPicPr>
          <p:nvPr/>
        </p:nvPicPr>
        <p:blipFill>
          <a:blip r:embed="rId10"/>
          <a:stretch>
            <a:fillRect/>
          </a:stretch>
        </p:blipFill>
        <p:spPr>
          <a:xfrm>
            <a:off x="6583680" y="5148072"/>
            <a:ext cx="292608" cy="292608"/>
          </a:xfrm>
          <a:prstGeom prst="rect">
            <a:avLst/>
          </a:prstGeom>
        </p:spPr>
      </p:pic>
      <p:sp>
        <p:nvSpPr>
          <p:cNvPr id="26" name="Text 14"/>
          <p:cNvSpPr txBox="1"/>
          <p:nvPr/>
        </p:nvSpPr>
        <p:spPr>
          <a:xfrm>
            <a:off x="7040880" y="5093208"/>
            <a:ext cx="4389120" cy="621792"/>
          </a:xfrm>
          <a:prstGeom prst="rect">
            <a:avLst/>
          </a:prstGeom>
          <a:noFill/>
          <a:ln/>
        </p:spPr>
        <p:txBody>
          <a:bodyPr wrap="square" lIns="0" tIns="0" rIns="0" bIns="0" rtlCol="0" anchor="t"/>
          <a:lstStyle/>
          <a:p>
            <a:pPr indent="0" marL="0">
              <a:buNone/>
            </a:pPr>
            <a:r>
              <a:rPr lang="en-US" sz="1500" b="1" dirty="0">
                <a:solidFill>
                  <a:schemeClr val="tx1"/>
                </a:solidFill>
              </a:rPr>
              <a:t>Tout au même endroit, pour tout le monde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400" b="1" spc="200" kern="0" dirty="0">
                <a:solidFill>
                  <a:srgbClr val="E0A43A"/>
                </a:solidFill>
              </a:rPr>
              <a:t>CE QUE JE VOUS PROPOSE</a:t>
            </a:r>
            <a:endParaRPr lang="en-US" sz="1400" dirty="0"/>
          </a:p>
        </p:txBody>
      </p:sp>
      <p:sp>
        <p:nvSpPr>
          <p:cNvPr id="3" name="Text 1"/>
          <p:cNvSpPr txBox="1"/>
          <p:nvPr/>
        </p:nvSpPr>
        <p:spPr>
          <a:xfrm>
            <a:off x="731520" y="1188720"/>
            <a:ext cx="10515600" cy="914400"/>
          </a:xfrm>
          <a:prstGeom prst="rect">
            <a:avLst/>
          </a:prstGeom>
          <a:noFill/>
          <a:ln/>
        </p:spPr>
        <p:txBody>
          <a:bodyPr wrap="square" lIns="0" tIns="0" rIns="0" bIns="0" rtlCol="0" anchor="ctr"/>
          <a:lstStyle/>
          <a:p>
            <a:pPr indent="0" marL="0">
              <a:buNone/>
            </a:pPr>
            <a:r>
              <a:rPr lang="en-US" sz="4200" b="1" dirty="0">
                <a:solidFill>
                  <a:schemeClr val="bg1"/>
                </a:solidFill>
                <a:latin typeface="Cambria" pitchFamily="34" charset="0"/>
                <a:ea typeface="Cambria" pitchFamily="34" charset="-122"/>
                <a:cs typeface="Cambria" pitchFamily="34" charset="-120"/>
              </a:rPr>
              <a:t>Commençons petit : un projet pilote.</a:t>
            </a:r>
            <a:endParaRPr lang="en-US" sz="4200" dirty="0"/>
          </a:p>
        </p:txBody>
      </p:sp>
      <p:sp>
        <p:nvSpPr>
          <p:cNvPr id="4" name="pilot-step"/>
          <p:cNvSpPr/>
          <p:nvPr/>
        </p:nvSpPr>
        <p:spPr>
          <a:xfrm>
            <a:off x="731520" y="2377440"/>
            <a:ext cx="3383280" cy="2331720"/>
          </a:xfrm>
          <a:prstGeom prst="roundRect">
            <a:avLst>
              <a:gd name="adj" fmla="val 4706"/>
            </a:avLst>
          </a:prstGeom>
          <a:solidFill>
            <a:srgbClr val="26304A"/>
          </a:solidFill>
          <a:ln/>
        </p:spPr>
      </p:sp>
      <p:sp>
        <p:nvSpPr>
          <p:cNvPr id="5" name="step-number"/>
          <p:cNvSpPr/>
          <p:nvPr/>
        </p:nvSpPr>
        <p:spPr>
          <a:xfrm>
            <a:off x="1005840" y="2651760"/>
            <a:ext cx="640080" cy="640080"/>
          </a:xfrm>
          <a:prstGeom prst="ellipse">
            <a:avLst/>
          </a:prstGeom>
          <a:solidFill>
            <a:schemeClr val="accent1"/>
          </a:solidFill>
          <a:ln/>
        </p:spPr>
      </p:sp>
      <p:sp>
        <p:nvSpPr>
          <p:cNvPr id="6" name="Text 4"/>
          <p:cNvSpPr txBox="1"/>
          <p:nvPr/>
        </p:nvSpPr>
        <p:spPr>
          <a:xfrm>
            <a:off x="1005840" y="2651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5"/>
          <p:cNvSpPr txBox="1"/>
          <p:nvPr/>
        </p:nvSpPr>
        <p:spPr>
          <a:xfrm>
            <a:off x="1005840" y="3429000"/>
            <a:ext cx="2880360" cy="457200"/>
          </a:xfrm>
          <a:prstGeom prst="rect">
            <a:avLst/>
          </a:prstGeom>
          <a:noFill/>
          <a:ln/>
        </p:spPr>
        <p:txBody>
          <a:bodyPr wrap="square" lIns="0" tIns="0" rIns="0" bIns="0" rtlCol="0" anchor="ctr"/>
          <a:lstStyle/>
          <a:p>
            <a:pPr indent="0" marL="0">
              <a:buNone/>
            </a:pPr>
            <a:r>
              <a:rPr lang="en-US" sz="1900" b="1" dirty="0">
                <a:solidFill>
                  <a:schemeClr val="bg1"/>
                </a:solidFill>
              </a:rPr>
              <a:t>Un ou deux départements</a:t>
            </a:r>
            <a:endParaRPr lang="en-US" sz="1900" dirty="0"/>
          </a:p>
        </p:txBody>
      </p:sp>
      <p:sp>
        <p:nvSpPr>
          <p:cNvPr id="8" name="Text 6"/>
          <p:cNvSpPr txBox="1"/>
          <p:nvPr/>
        </p:nvSpPr>
        <p:spPr>
          <a:xfrm>
            <a:off x="1005840" y="3886200"/>
            <a:ext cx="2880360" cy="777240"/>
          </a:xfrm>
          <a:prstGeom prst="rect">
            <a:avLst/>
          </a:prstGeom>
          <a:noFill/>
          <a:ln/>
        </p:spPr>
        <p:txBody>
          <a:bodyPr wrap="square" lIns="0" tIns="0" rIns="0" bIns="0" rtlCol="0" anchor="t"/>
          <a:lstStyle/>
          <a:p>
            <a:pPr indent="0" marL="0">
              <a:buNone/>
            </a:pPr>
            <a:r>
              <a:rPr lang="en-US" sz="1400" dirty="0">
                <a:solidFill>
                  <a:srgbClr val="B7BECC"/>
                </a:solidFill>
              </a:rPr>
              <a:t>Ceux où le besoin se fait le plus sentir.</a:t>
            </a:r>
            <a:endParaRPr lang="en-US" sz="1400" dirty="0"/>
          </a:p>
        </p:txBody>
      </p:sp>
      <p:sp>
        <p:nvSpPr>
          <p:cNvPr id="9" name="pilot-step"/>
          <p:cNvSpPr/>
          <p:nvPr/>
        </p:nvSpPr>
        <p:spPr>
          <a:xfrm>
            <a:off x="4343400" y="2377440"/>
            <a:ext cx="3383280" cy="2331720"/>
          </a:xfrm>
          <a:prstGeom prst="roundRect">
            <a:avLst>
              <a:gd name="adj" fmla="val 4706"/>
            </a:avLst>
          </a:prstGeom>
          <a:solidFill>
            <a:srgbClr val="26304A"/>
          </a:solidFill>
          <a:ln/>
        </p:spPr>
      </p:sp>
      <p:sp>
        <p:nvSpPr>
          <p:cNvPr id="10" name="step-number"/>
          <p:cNvSpPr/>
          <p:nvPr/>
        </p:nvSpPr>
        <p:spPr>
          <a:xfrm>
            <a:off x="4617720" y="2651760"/>
            <a:ext cx="640080" cy="640080"/>
          </a:xfrm>
          <a:prstGeom prst="ellipse">
            <a:avLst/>
          </a:prstGeom>
          <a:solidFill>
            <a:schemeClr val="accent1"/>
          </a:solidFill>
          <a:ln/>
        </p:spPr>
      </p:sp>
      <p:sp>
        <p:nvSpPr>
          <p:cNvPr id="11" name="Text 9"/>
          <p:cNvSpPr txBox="1"/>
          <p:nvPr/>
        </p:nvSpPr>
        <p:spPr>
          <a:xfrm>
            <a:off x="4617720" y="2651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 10"/>
          <p:cNvSpPr txBox="1"/>
          <p:nvPr/>
        </p:nvSpPr>
        <p:spPr>
          <a:xfrm>
            <a:off x="4617720" y="3429000"/>
            <a:ext cx="2880360" cy="457200"/>
          </a:xfrm>
          <a:prstGeom prst="rect">
            <a:avLst/>
          </a:prstGeom>
          <a:noFill/>
          <a:ln/>
        </p:spPr>
        <p:txBody>
          <a:bodyPr wrap="square" lIns="0" tIns="0" rIns="0" bIns="0" rtlCol="0" anchor="ctr"/>
          <a:lstStyle/>
          <a:p>
            <a:pPr indent="0" marL="0">
              <a:buNone/>
            </a:pPr>
            <a:r>
              <a:rPr lang="en-US" sz="1900" b="1" dirty="0">
                <a:solidFill>
                  <a:schemeClr val="bg1"/>
                </a:solidFill>
              </a:rPr>
              <a:t>Je m'occupe de tout</a:t>
            </a:r>
            <a:endParaRPr lang="en-US" sz="1900" dirty="0"/>
          </a:p>
        </p:txBody>
      </p:sp>
      <p:sp>
        <p:nvSpPr>
          <p:cNvPr id="13" name="Text 11"/>
          <p:cNvSpPr txBox="1"/>
          <p:nvPr/>
        </p:nvSpPr>
        <p:spPr>
          <a:xfrm>
            <a:off x="4617720" y="3886200"/>
            <a:ext cx="2880360" cy="777240"/>
          </a:xfrm>
          <a:prstGeom prst="rect">
            <a:avLst/>
          </a:prstGeom>
          <a:noFill/>
          <a:ln/>
        </p:spPr>
        <p:txBody>
          <a:bodyPr wrap="square" lIns="0" tIns="0" rIns="0" bIns="0" rtlCol="0" anchor="t"/>
          <a:lstStyle/>
          <a:p>
            <a:pPr indent="0" marL="0">
              <a:buNone/>
            </a:pPr>
            <a:r>
              <a:rPr lang="en-US" sz="1400" dirty="0">
                <a:solidFill>
                  <a:srgbClr val="B7BECC"/>
                </a:solidFill>
              </a:rPr>
              <a:t>Mise en place sur place, avec vous, et réponse à chaque question des employés.</a:t>
            </a:r>
            <a:endParaRPr lang="en-US" sz="1400" dirty="0"/>
          </a:p>
        </p:txBody>
      </p:sp>
      <p:sp>
        <p:nvSpPr>
          <p:cNvPr id="14" name="pilot-step"/>
          <p:cNvSpPr/>
          <p:nvPr/>
        </p:nvSpPr>
        <p:spPr>
          <a:xfrm>
            <a:off x="7955280" y="2377440"/>
            <a:ext cx="3383280" cy="2331720"/>
          </a:xfrm>
          <a:prstGeom prst="roundRect">
            <a:avLst>
              <a:gd name="adj" fmla="val 4706"/>
            </a:avLst>
          </a:prstGeom>
          <a:solidFill>
            <a:srgbClr val="26304A"/>
          </a:solidFill>
          <a:ln/>
        </p:spPr>
      </p:sp>
      <p:sp>
        <p:nvSpPr>
          <p:cNvPr id="15" name="step-number"/>
          <p:cNvSpPr/>
          <p:nvPr/>
        </p:nvSpPr>
        <p:spPr>
          <a:xfrm>
            <a:off x="8229600" y="2651760"/>
            <a:ext cx="640080" cy="640080"/>
          </a:xfrm>
          <a:prstGeom prst="ellipse">
            <a:avLst/>
          </a:prstGeom>
          <a:solidFill>
            <a:schemeClr val="accent1"/>
          </a:solidFill>
          <a:ln/>
        </p:spPr>
      </p:sp>
      <p:sp>
        <p:nvSpPr>
          <p:cNvPr id="16" name="Text 14"/>
          <p:cNvSpPr txBox="1"/>
          <p:nvPr/>
        </p:nvSpPr>
        <p:spPr>
          <a:xfrm>
            <a:off x="8229600" y="2651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7" name="Text 15"/>
          <p:cNvSpPr txBox="1"/>
          <p:nvPr/>
        </p:nvSpPr>
        <p:spPr>
          <a:xfrm>
            <a:off x="8229600" y="3429000"/>
            <a:ext cx="2880360" cy="457200"/>
          </a:xfrm>
          <a:prstGeom prst="rect">
            <a:avLst/>
          </a:prstGeom>
          <a:noFill/>
          <a:ln/>
        </p:spPr>
        <p:txBody>
          <a:bodyPr wrap="square" lIns="0" tIns="0" rIns="0" bIns="0" rtlCol="0" anchor="ctr"/>
          <a:lstStyle/>
          <a:p>
            <a:pPr indent="0" marL="0">
              <a:buNone/>
            </a:pPr>
            <a:r>
              <a:rPr lang="en-US" sz="1900" b="1" dirty="0">
                <a:solidFill>
                  <a:schemeClr val="bg1"/>
                </a:solidFill>
              </a:rPr>
              <a:t>On mesure ensemble</a:t>
            </a:r>
            <a:endParaRPr lang="en-US" sz="1900" dirty="0"/>
          </a:p>
        </p:txBody>
      </p:sp>
      <p:sp>
        <p:nvSpPr>
          <p:cNvPr id="18" name="Text 16"/>
          <p:cNvSpPr txBox="1"/>
          <p:nvPr/>
        </p:nvSpPr>
        <p:spPr>
          <a:xfrm>
            <a:off x="8229600" y="3886200"/>
            <a:ext cx="2880360" cy="777240"/>
          </a:xfrm>
          <a:prstGeom prst="rect">
            <a:avLst/>
          </a:prstGeom>
          <a:noFill/>
          <a:ln/>
        </p:spPr>
        <p:txBody>
          <a:bodyPr wrap="square" lIns="0" tIns="0" rIns="0" bIns="0" rtlCol="0" anchor="t"/>
          <a:lstStyle/>
          <a:p>
            <a:pPr indent="0" marL="0">
              <a:buNone/>
            </a:pPr>
            <a:r>
              <a:rPr lang="en-US" sz="1400" dirty="0">
                <a:solidFill>
                  <a:srgbClr val="B7BECC"/>
                </a:solidFill>
              </a:rPr>
              <a:t>Participation, absences traitées, retours des employés et des responsables. Puis vous décidez.</a:t>
            </a:r>
            <a:endParaRPr lang="en-US" sz="1400" dirty="0"/>
          </a:p>
        </p:txBody>
      </p:sp>
      <p:sp>
        <p:nvSpPr>
          <p:cNvPr id="19" name="cta"/>
          <p:cNvSpPr/>
          <p:nvPr/>
        </p:nvSpPr>
        <p:spPr>
          <a:xfrm>
            <a:off x="731520" y="5029200"/>
            <a:ext cx="10698480" cy="914400"/>
          </a:xfrm>
          <a:prstGeom prst="roundRect">
            <a:avLst>
              <a:gd name="adj" fmla="val 12000"/>
            </a:avLst>
          </a:prstGeom>
          <a:solidFill>
            <a:schemeClr val="accent2"/>
          </a:solidFill>
          <a:ln/>
        </p:spPr>
      </p:sp>
      <p:sp>
        <p:nvSpPr>
          <p:cNvPr id="20" name="Text 18"/>
          <p:cNvSpPr txBox="1"/>
          <p:nvPr/>
        </p:nvSpPr>
        <p:spPr>
          <a:xfrm>
            <a:off x="1005840" y="5029200"/>
            <a:ext cx="10149840" cy="91440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La seule question aujourd'hui : quel département commence ?</a:t>
            </a:r>
            <a:endParaRPr lang="en-US" sz="2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1463040"/>
            <a:ext cx="10515600" cy="128016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Merci.</a:t>
            </a:r>
            <a:endParaRPr lang="en-US" sz="7200" dirty="0"/>
          </a:p>
        </p:txBody>
      </p:sp>
      <p:sp>
        <p:nvSpPr>
          <p:cNvPr id="3" name="Text 1"/>
          <p:cNvSpPr txBox="1"/>
          <p:nvPr/>
        </p:nvSpPr>
        <p:spPr>
          <a:xfrm>
            <a:off x="731520" y="2788920"/>
            <a:ext cx="10515600" cy="731520"/>
          </a:xfrm>
          <a:prstGeom prst="rect">
            <a:avLst/>
          </a:prstGeom>
          <a:noFill/>
          <a:ln/>
        </p:spPr>
        <p:txBody>
          <a:bodyPr wrap="square" lIns="0" tIns="0" rIns="0" bIns="0" rtlCol="0" anchor="ctr"/>
          <a:lstStyle/>
          <a:p>
            <a:pPr indent="0" marL="0">
              <a:buNone/>
            </a:pPr>
            <a:r>
              <a:rPr lang="en-US" sz="3000" i="1" dirty="0">
                <a:solidFill>
                  <a:srgbClr val="CFE7DE"/>
                </a:solidFill>
                <a:latin typeface="Cambria" pitchFamily="34" charset="0"/>
                <a:ea typeface="Cambria" pitchFamily="34" charset="-122"/>
                <a:cs typeface="Cambria" pitchFamily="34" charset="-120"/>
              </a:rPr>
              <a:t>Des employés informés et écoutés restent.</a:t>
            </a:r>
            <a:endParaRPr lang="en-US" sz="3000" dirty="0"/>
          </a:p>
        </p:txBody>
      </p:sp>
      <p:sp>
        <p:nvSpPr>
          <p:cNvPr id="4" name="Text 2"/>
          <p:cNvSpPr txBox="1"/>
          <p:nvPr/>
        </p:nvSpPr>
        <p:spPr>
          <a:xfrm>
            <a:off x="731520" y="4206240"/>
            <a:ext cx="6400800" cy="822960"/>
          </a:xfrm>
          <a:prstGeom prst="rect">
            <a:avLst/>
          </a:prstGeom>
          <a:noFill/>
          <a:ln/>
        </p:spPr>
        <p:txBody>
          <a:bodyPr wrap="square" lIns="0" tIns="0" rIns="0" bIns="0" rtlCol="0" anchor="ctr"/>
          <a:lstStyle/>
          <a:p>
            <a:pPr indent="0" marL="0">
              <a:buNone/>
            </a:pPr>
            <a:r>
              <a:rPr lang="en-US" sz="1800" b="1" dirty="0">
                <a:solidFill>
                  <a:schemeClr val="bg1"/>
                </a:solidFill>
              </a:rPr>
              <a:t>Djibril — Mindmate Compagny</a:t>
            </a:r>
            <a:endParaRPr lang="en-US" sz="1800" dirty="0"/>
          </a:p>
          <a:p>
            <a:pPr indent="0" marL="0">
              <a:buNone/>
            </a:pPr>
            <a:r>
              <a:rPr lang="en-US" sz="1800" dirty="0">
                <a:solidFill>
                  <a:schemeClr val="bg1"/>
                </a:solidFill>
              </a:rPr>
              <a:t>www.mindmatecompagny.com</a:t>
            </a:r>
            <a:endParaRPr lang="en-US" sz="1800" dirty="0"/>
          </a:p>
        </p:txBody>
      </p:sp>
      <p:sp>
        <p:nvSpPr>
          <p:cNvPr id="5" name="Text 3"/>
          <p:cNvSpPr txBox="1"/>
          <p:nvPr/>
        </p:nvSpPr>
        <p:spPr>
          <a:xfrm>
            <a:off x="731520" y="5212080"/>
            <a:ext cx="4572000" cy="457200"/>
          </a:xfrm>
          <a:prstGeom prst="rect">
            <a:avLst/>
          </a:prstGeom>
          <a:noFill/>
          <a:ln/>
        </p:spPr>
        <p:txBody>
          <a:bodyPr wrap="square" lIns="0" tIns="0" rIns="0" bIns="0" rtlCol="0" anchor="ctr"/>
          <a:lstStyle/>
          <a:p>
            <a:pPr indent="0" marL="0">
              <a:buNone/>
            </a:pPr>
            <a:r>
              <a:rPr lang="en-US" sz="1800" b="1" dirty="0">
                <a:solidFill>
                  <a:srgbClr val="E0A43A"/>
                </a:solidFill>
              </a:rPr>
              <a:t>Vos questions</a:t>
            </a:r>
            <a:endParaRPr lang="en-US" sz="1800" dirty="0"/>
          </a:p>
        </p:txBody>
      </p:sp>
      <p:sp>
        <p:nvSpPr>
          <p:cNvPr id="6" name="icon-circle"/>
          <p:cNvSpPr/>
          <p:nvPr/>
        </p:nvSpPr>
        <p:spPr>
          <a:xfrm>
            <a:off x="9326880" y="3566160"/>
            <a:ext cx="1828800" cy="1828800"/>
          </a:xfrm>
          <a:prstGeom prst="ellipse">
            <a:avLst/>
          </a:prstGeom>
          <a:solidFill>
            <a:srgbClr val="2F6F5E"/>
          </a:solidFill>
          <a:ln/>
        </p:spPr>
      </p:sp>
      <p:pic>
        <p:nvPicPr>
          <p:cNvPr id="7" name="icon LuMessageCircleQuestion" descr="preencoded.png">    </p:cNvPr>
          <p:cNvPicPr>
            <a:picLocks noChangeAspect="1"/>
          </p:cNvPicPr>
          <p:nvPr/>
        </p:nvPicPr>
        <p:blipFill>
          <a:blip r:embed="rId1"/>
          <a:stretch>
            <a:fillRect/>
          </a:stretch>
        </p:blipFill>
        <p:spPr>
          <a:xfrm>
            <a:off x="9765792" y="4005072"/>
            <a:ext cx="950976" cy="950976"/>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BEC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indmate Compagny">
  <a:themeElements>
    <a:clrScheme name="Mindmate Compagny">
      <a:dk1>
        <a:srgbClr val="1C2438"/>
      </a:dk1>
      <a:lt1>
        <a:srgbClr val="FFFFFF"/>
      </a:lt1>
      <a:dk2>
        <a:srgbClr val="2F6F5E"/>
      </a:dk2>
      <a:lt2>
        <a:srgbClr val="F3F5F8"/>
      </a:lt2>
      <a:accent1>
        <a:srgbClr val="2F6F5E"/>
      </a:accent1>
      <a:accent2>
        <a:srgbClr val="E0A43A"/>
      </a:accent2>
      <a:accent3>
        <a:srgbClr val="3F6FB0"/>
      </a:accent3>
      <a:accent4>
        <a:srgbClr val="C9542C"/>
      </a:accent4>
      <a:accent5>
        <a:srgbClr val="8B6BC9"/>
      </a:accent5>
      <a:accent6>
        <a:srgbClr val="2A9FB0"/>
      </a:accent6>
      <a:hlink>
        <a:srgbClr val="3F6FB0"/>
      </a:hlink>
      <a:folHlink>
        <a:srgbClr val="8B6BC9"/>
      </a:folHlink>
    </a:clrScheme>
    <a:fontScheme name="Mindmate Compagn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Mindmate Compagny — Présentation RH</dc:title>
  <dc:subject>PptxGenJS Presentation</dc:subject>
  <dc:creator>Djibril</dc:creator>
  <cp:lastModifiedBy>Djibril</cp:lastModifiedBy>
  <cp:revision>1</cp:revision>
  <dcterms:created xsi:type="dcterms:W3CDTF">2026-10-01T22:14:00Z</dcterms:created>
  <dcterms:modified xsi:type="dcterms:W3CDTF">2026-10-01T22:14:00Z</dcterms:modified>
</cp:coreProperties>
</file>